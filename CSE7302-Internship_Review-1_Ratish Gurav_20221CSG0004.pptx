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9" r:id="rId2"/>
    <p:sldId id="260" r:id="rId3"/>
    <p:sldId id="270" r:id="rId4"/>
    <p:sldId id="261" r:id="rId5"/>
    <p:sldId id="27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5" d="100"/>
          <a:sy n="85" d="100"/>
        </p:scale>
        <p:origin x="70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dgm:spPr/>
      <dgm:t>
        <a:bodyPr/>
        <a:lstStyle/>
        <a:p>
          <a:r>
            <a:rPr lang="en-US" dirty="0">
              <a:latin typeface="Times New Roman" panose="02020603050405020304" pitchFamily="18" charset="0"/>
              <a:cs typeface="Times New Roman" panose="02020603050405020304" pitchFamily="18" charset="0"/>
            </a:rPr>
            <a:t>Onboarding,</a:t>
          </a:r>
        </a:p>
        <a:p>
          <a:r>
            <a:rPr lang="en-US" dirty="0">
              <a:latin typeface="Times New Roman" panose="02020603050405020304" pitchFamily="18" charset="0"/>
              <a:cs typeface="Times New Roman" panose="02020603050405020304" pitchFamily="18" charset="0"/>
            </a:rPr>
            <a:t>role and responsibility discussion and  project planning.</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Onboarding,</a:t>
          </a:r>
        </a:p>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role and responsibility discussion and  project planning.</a:t>
          </a:r>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15/01/2026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15-01-2026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15-01-2026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15-01-2026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15-01-2026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15-01-2026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15-01-2026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15-01-2026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15-01-2026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15-01-2026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15-01-2026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15-01-2026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15-01-2026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err="1">
                <a:solidFill>
                  <a:srgbClr val="17365D"/>
                </a:solidFill>
                <a:latin typeface="Cambria" panose="02040503050406030204" pitchFamily="18" charset="0"/>
                <a:ea typeface="Cambria" panose="02040503050406030204" pitchFamily="18" charset="0"/>
                <a:cs typeface="Verdana"/>
                <a:sym typeface="Verdana"/>
              </a:rPr>
              <a:t>Saptarsi</a:t>
            </a:r>
            <a:r>
              <a:rPr lang="en-GB" sz="1700" b="1" dirty="0">
                <a:solidFill>
                  <a:srgbClr val="17365D"/>
                </a:solidFill>
                <a:latin typeface="Cambria" panose="02040503050406030204" pitchFamily="18" charset="0"/>
                <a:ea typeface="Cambria" panose="02040503050406030204" pitchFamily="18" charset="0"/>
                <a:cs typeface="Verdana"/>
                <a:sym typeface="Verdana"/>
              </a:rPr>
              <a:t> Sanyal</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2" y="4130278"/>
            <a:ext cx="11883258"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CSE7302 - INTERNSHIP</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Pallavi R</a:t>
            </a: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accent1"/>
                </a:solidFill>
                <a:latin typeface="Cambria" panose="02040503050406030204" pitchFamily="18" charset="0"/>
                <a:ea typeface="Cambria" panose="02040503050406030204" pitchFamily="18" charset="0"/>
                <a:cs typeface="Verdana"/>
                <a:sym typeface="Verdana"/>
              </a:rPr>
              <a:t>Mr.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Saptarsi</a:t>
            </a:r>
            <a:r>
              <a:rPr lang="en-US" sz="2000" b="1" dirty="0">
                <a:solidFill>
                  <a:schemeClr val="accent1"/>
                </a:solidFill>
                <a:latin typeface="Cambria" panose="02040503050406030204" pitchFamily="18" charset="0"/>
                <a:ea typeface="Cambria" panose="02040503050406030204" pitchFamily="18" charset="0"/>
                <a:cs typeface="Verdana"/>
                <a:sym typeface="Verdana"/>
              </a:rPr>
              <a:t> Sanyal</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Review-1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AI SOLUTIONS INTERN</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17017777"/>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Ratish Gurav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20221CSG0004</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8CSG-01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7591-4F0C-B280-30FC-6FD5A7F57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5A51F-9BCF-7E53-FEBA-948013FC345A}"/>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D3EA6711-A3F7-F598-AC39-43F68B16DC2C}"/>
              </a:ext>
            </a:extLst>
          </p:cNvPr>
          <p:cNvSpPr>
            <a:spLocks noGrp="1"/>
          </p:cNvSpPr>
          <p:nvPr>
            <p:ph idx="1"/>
          </p:nvPr>
        </p:nvSpPr>
        <p:spPr>
          <a:xfrm>
            <a:off x="838200" y="1045031"/>
            <a:ext cx="10515600" cy="4193176"/>
          </a:xfrm>
        </p:spPr>
        <p:txBody>
          <a:bodyPr/>
          <a:lstStyle/>
          <a:p>
            <a:r>
              <a:rPr lang="en-US" b="1" dirty="0" err="1"/>
              <a:t>Raghuraj</a:t>
            </a:r>
            <a:r>
              <a:rPr lang="en-US" b="1" dirty="0"/>
              <a:t> </a:t>
            </a:r>
            <a:r>
              <a:rPr lang="en-US" dirty="0"/>
              <a:t>is an eco-conscious company focused on providing sustainable energy products and infrastructure. Their stated mission is to create a cleaner, more sustainable environment by helping customers adopt </a:t>
            </a:r>
            <a:r>
              <a:rPr lang="en-US" b="1" dirty="0"/>
              <a:t>economical and eco-friendly </a:t>
            </a:r>
            <a:r>
              <a:rPr lang="en-US" dirty="0"/>
              <a:t>lifestyles. </a:t>
            </a:r>
          </a:p>
          <a:p>
            <a:r>
              <a:rPr lang="en-US" dirty="0"/>
              <a:t>They specialize in the sale and installation of various green technology and utility systems.</a:t>
            </a:r>
          </a:p>
          <a:p>
            <a:r>
              <a:rPr lang="en-US" dirty="0"/>
              <a:t>The company is based in </a:t>
            </a:r>
            <a:r>
              <a:rPr lang="en-US" b="1" dirty="0"/>
              <a:t>Goa</a:t>
            </a:r>
            <a:r>
              <a:rPr lang="en-US" dirty="0"/>
              <a:t>, India but operates in </a:t>
            </a:r>
            <a:r>
              <a:rPr lang="en-US" b="1" dirty="0"/>
              <a:t>Mumbai</a:t>
            </a:r>
            <a:r>
              <a:rPr lang="en-US" dirty="0"/>
              <a:t> as well. They specialize in the sale and installation of various green technology and utility systems.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3AFFA6-7D25-698C-04DF-0B793C790EE9}"/>
              </a:ext>
            </a:extLst>
          </p:cNvPr>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2582242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IN" b="1" dirty="0"/>
              <a:t>Products :</a:t>
            </a:r>
          </a:p>
          <a:p>
            <a:pPr marL="0" indent="0">
              <a:buNone/>
            </a:pPr>
            <a:r>
              <a:rPr lang="en-US" dirty="0"/>
              <a:t>The company provides installation and support services for many products, as well as other electrical services.</a:t>
            </a:r>
          </a:p>
          <a:p>
            <a:r>
              <a:rPr lang="en-IN" dirty="0"/>
              <a:t>Solar Panels </a:t>
            </a:r>
          </a:p>
          <a:p>
            <a:r>
              <a:rPr lang="en-IN" dirty="0"/>
              <a:t>Mini Wind Turbines </a:t>
            </a:r>
          </a:p>
          <a:p>
            <a:r>
              <a:rPr lang="en-IN" dirty="0"/>
              <a:t>EV Charging</a:t>
            </a:r>
          </a:p>
          <a:p>
            <a:r>
              <a:rPr lang="en-IN" dirty="0"/>
              <a:t>Transformer Generator </a:t>
            </a:r>
          </a:p>
          <a:p>
            <a:r>
              <a:rPr lang="en-IN" dirty="0"/>
              <a:t>WTP, STP </a:t>
            </a:r>
          </a:p>
          <a:p>
            <a:r>
              <a:rPr lang="en-IN" dirty="0"/>
              <a:t>Swimming Pool </a:t>
            </a:r>
          </a:p>
          <a:p>
            <a:r>
              <a:rPr lang="en-IN" dirty="0"/>
              <a:t>Heat Pump</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3F19-DEA1-20CF-A4B0-79723F61D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70CD-5230-B2E4-B9E4-F7AAFE418BFC}"/>
              </a:ext>
            </a:extLst>
          </p:cNvPr>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a:extLst>
              <a:ext uri="{FF2B5EF4-FFF2-40B4-BE49-F238E27FC236}">
                <a16:creationId xmlns:a16="http://schemas.microsoft.com/office/drawing/2014/main" id="{F6664E0F-AA75-0717-2BC2-CBE55F644378}"/>
              </a:ext>
            </a:extLst>
          </p:cNvPr>
          <p:cNvSpPr>
            <a:spLocks noGrp="1"/>
          </p:cNvSpPr>
          <p:nvPr>
            <p:ph idx="1"/>
          </p:nvPr>
        </p:nvSpPr>
        <p:spPr>
          <a:xfrm>
            <a:off x="838200" y="1045031"/>
            <a:ext cx="10515600" cy="4193176"/>
          </a:xfrm>
        </p:spPr>
        <p:txBody>
          <a:bodyPr>
            <a:normAutofit fontScale="92500" lnSpcReduction="20000"/>
          </a:bodyPr>
          <a:lstStyle/>
          <a:p>
            <a:r>
              <a:rPr lang="en-IN" b="1" dirty="0"/>
              <a:t>Clients :</a:t>
            </a:r>
          </a:p>
          <a:p>
            <a:pPr marL="0" indent="0">
              <a:buNone/>
            </a:pPr>
            <a:r>
              <a:rPr lang="en-IN" dirty="0"/>
              <a:t>The company boasts a heavy client list of residential and commercial builders, hotels etc. from Mumbai as well as Goa.</a:t>
            </a:r>
          </a:p>
          <a:p>
            <a:r>
              <a:rPr lang="en-IN" dirty="0"/>
              <a:t>Hotel La Calypso, Hotel IVY, Hotel Ramada - Goa </a:t>
            </a:r>
          </a:p>
          <a:p>
            <a:r>
              <a:rPr lang="en-IN" dirty="0"/>
              <a:t>IKON INDUSTRIES – Mumbai</a:t>
            </a:r>
          </a:p>
          <a:p>
            <a:r>
              <a:rPr lang="en-IN" dirty="0"/>
              <a:t>DLH Lok Mitra – Goregaon, Mumbai</a:t>
            </a:r>
          </a:p>
          <a:p>
            <a:r>
              <a:rPr lang="en-IN" dirty="0" err="1"/>
              <a:t>Aadhvay</a:t>
            </a:r>
            <a:r>
              <a:rPr lang="en-IN" dirty="0"/>
              <a:t> Realtors - Goa</a:t>
            </a:r>
          </a:p>
          <a:p>
            <a:r>
              <a:rPr lang="en-IN" dirty="0" err="1"/>
              <a:t>Aadhvay</a:t>
            </a:r>
            <a:r>
              <a:rPr lang="en-IN" dirty="0"/>
              <a:t> Ventures - Goa</a:t>
            </a:r>
          </a:p>
          <a:p>
            <a:r>
              <a:rPr lang="en-IN" dirty="0"/>
              <a:t>Dynamic Crest - Thane</a:t>
            </a:r>
          </a:p>
          <a:p>
            <a:r>
              <a:rPr lang="en-IN" dirty="0"/>
              <a:t>HELICON HEIGHTS CHS. LTD. - Mumbai</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BDBBCB-98F5-AE81-6B71-41C278B6E55C}"/>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67466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r>
              <a:rPr lang="en-US" dirty="0"/>
              <a:t>I will be designated as an AI Solutions Intern and will be working directly with the technical team.</a:t>
            </a:r>
          </a:p>
          <a:p>
            <a:r>
              <a:rPr lang="en-US" dirty="0"/>
              <a:t>Scope of work includes developing an AI-driven chatbot capable of answering technical queries about our products (e.g., Solar efficiency, EV compatibility), automating initial customer consultations, and providing instant support for installation services using Generative AI and LLMs.</a:t>
            </a:r>
          </a:p>
          <a:p>
            <a:r>
              <a:rPr lang="en-US" dirty="0">
                <a:latin typeface="Times New Roman" panose="02020603050405020304" pitchFamily="18" charset="0"/>
                <a:cs typeface="Times New Roman" panose="02020603050405020304" pitchFamily="18" charset="0"/>
              </a:rPr>
              <a:t>Also, other technical consultation for developing website and creating an online presence for the company.</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lstStyle/>
          <a:p>
            <a:r>
              <a:rPr lang="en-IN" dirty="0">
                <a:latin typeface="Times New Roman" panose="02020603050405020304" pitchFamily="18" charset="0"/>
                <a:cs typeface="Times New Roman" panose="02020603050405020304" pitchFamily="18" charset="0"/>
              </a:rPr>
              <a:t>Intern development team, reporting to Project manager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lstStyle/>
          <a:p>
            <a:r>
              <a:rPr lang="en-US" dirty="0"/>
              <a:t>There were limited internship opportunities available in my specific field of interest, which made securing a relevant placement challenging within the given timeframe.</a:t>
            </a:r>
          </a:p>
          <a:p>
            <a:r>
              <a:rPr lang="en-US" dirty="0"/>
              <a:t>Since the role involves 'leading the implementation' of a new system,  I had to go beyond coding questions and explain how the AI would practically automate consultations and reduce the workload for the sales team.</a:t>
            </a:r>
          </a:p>
          <a:p>
            <a:r>
              <a:rPr lang="en-IN" dirty="0">
                <a:latin typeface="Times New Roman" panose="02020603050405020304" pitchFamily="18" charset="0"/>
                <a:cs typeface="Times New Roman" panose="02020603050405020304" pitchFamily="18" charset="0"/>
              </a:rPr>
              <a:t>Getting adjusted to the team was not much of a challenge as I have already worked with them on other different projects.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r>
              <a:rPr lang="en-US" dirty="0"/>
              <a:t>To establish a comprehensive digital identity for </a:t>
            </a:r>
            <a:r>
              <a:rPr lang="en-US" b="1" dirty="0" err="1"/>
              <a:t>Raghuraj</a:t>
            </a:r>
            <a:r>
              <a:rPr lang="en-US" dirty="0"/>
              <a:t>, enabling the company to expand its market reach and streamline customer interactions through a modern web platform and other relevant social platforms.</a:t>
            </a:r>
          </a:p>
          <a:p>
            <a:r>
              <a:rPr lang="en-US" dirty="0"/>
              <a:t> And gain experience of building software solutions from the foundation to the deployment.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267344451"/>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t>https://github.com/ratishgurav/CSE7302-INTERNSHIP</a:t>
            </a:r>
          </a:p>
        </p:txBody>
      </p:sp>
    </p:spTree>
    <p:extLst>
      <p:ext uri="{BB962C8B-B14F-4D97-AF65-F5344CB8AC3E}">
        <p14:creationId xmlns:p14="http://schemas.microsoft.com/office/powerpoint/2010/main" val="295621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12</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7155</TotalTime>
  <Words>628</Words>
  <Application>Microsoft Office PowerPoint</Application>
  <PresentationFormat>Widescreen</PresentationFormat>
  <Paragraphs>89</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Ratish Gurav</cp:lastModifiedBy>
  <cp:revision>719</cp:revision>
  <dcterms:created xsi:type="dcterms:W3CDTF">2022-10-14T07:18:17Z</dcterms:created>
  <dcterms:modified xsi:type="dcterms:W3CDTF">2026-01-15T12:36:59Z</dcterms:modified>
</cp:coreProperties>
</file>