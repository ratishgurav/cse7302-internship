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9" r:id="rId2"/>
    <p:sldId id="260" r:id="rId3"/>
    <p:sldId id="270" r:id="rId4"/>
    <p:sldId id="261" r:id="rId5"/>
    <p:sldId id="271" r:id="rId6"/>
    <p:sldId id="262" r:id="rId7"/>
    <p:sldId id="263" r:id="rId8"/>
    <p:sldId id="264" r:id="rId9"/>
    <p:sldId id="265" r:id="rId10"/>
    <p:sldId id="272" r:id="rId11"/>
    <p:sldId id="273" r:id="rId12"/>
    <p:sldId id="274" r:id="rId13"/>
    <p:sldId id="275" r:id="rId14"/>
    <p:sldId id="276" r:id="rId15"/>
    <p:sldId id="266" r:id="rId16"/>
    <p:sldId id="267" r:id="rId17"/>
    <p:sldId id="268"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BE31D-A805-4374-A802-C65F02E28BCD}" v="23" dt="2024-12-11T08:31:31.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4" autoAdjust="0"/>
    <p:restoredTop sz="94660"/>
  </p:normalViewPr>
  <p:slideViewPr>
    <p:cSldViewPr snapToGrid="0">
      <p:cViewPr varScale="1">
        <p:scale>
          <a:sx n="85" d="100"/>
          <a:sy n="85" d="100"/>
        </p:scale>
        <p:origin x="70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phldr="0"/>
      <dgm:spPr/>
      <dgm:t>
        <a:bodyPr/>
        <a:lstStyle/>
        <a:p>
          <a:r>
            <a:rPr lang="en-US" dirty="0">
              <a:latin typeface="Times New Roman" panose="02020603050405020304" pitchFamily="18" charset="0"/>
              <a:cs typeface="Times New Roman" panose="02020603050405020304" pitchFamily="18" charset="0"/>
            </a:rPr>
            <a:t>Onboarding,</a:t>
          </a:r>
        </a:p>
        <a:p>
          <a:r>
            <a:rPr lang="en-US" dirty="0">
              <a:latin typeface="Times New Roman" panose="02020603050405020304" pitchFamily="18" charset="0"/>
              <a:cs typeface="Times New Roman" panose="02020603050405020304" pitchFamily="18" charset="0"/>
            </a:rPr>
            <a:t>role and responsibility discussion and  project planning.</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phldr="0"/>
      <dgm:spPr/>
      <dgm:t>
        <a:bodyPr/>
        <a:lstStyle/>
        <a:p>
          <a:endParaRPr lang="en-US"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1F05A44A-DCD5-466B-8FFA-119759A72279}">
      <dgm:prSet/>
      <dgm:spPr/>
      <dgm:t>
        <a:bodyPr/>
        <a:lstStyle/>
        <a:p>
          <a:pPr>
            <a:buNone/>
          </a:pPr>
          <a:r>
            <a:rPr lang="en-US"/>
            <a:t>Requirement analysis, system design approval, and frontend prototyping.</a:t>
          </a:r>
        </a:p>
      </dgm:t>
    </dgm:pt>
    <dgm:pt modelId="{A0FA2EDC-EE41-43AD-B03C-465DFC8E183C}" type="parTrans" cxnId="{1B1A7813-8BD7-4D35-9EEC-AB5495635B62}">
      <dgm:prSet/>
      <dgm:spPr/>
      <dgm:t>
        <a:bodyPr/>
        <a:lstStyle/>
        <a:p>
          <a:endParaRPr lang="en-IN"/>
        </a:p>
      </dgm:t>
    </dgm:pt>
    <dgm:pt modelId="{891ECB6C-1D70-45F5-90E9-8EB3AF91E756}" type="sibTrans" cxnId="{1B1A7813-8BD7-4D35-9EEC-AB5495635B62}">
      <dgm:prSet/>
      <dgm:spPr/>
      <dgm:t>
        <a:bodyPr/>
        <a:lstStyle/>
        <a:p>
          <a:endParaRPr lang="en-IN"/>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1B1A7813-8BD7-4D35-9EEC-AB5495635B62}" srcId="{7B3055AA-BF7C-46D0-9A9E-60087B9F57B4}" destId="{1F05A44A-DCD5-466B-8FFA-119759A72279}" srcOrd="1" destOrd="0" parTransId="{A0FA2EDC-EE41-43AD-B03C-465DFC8E183C}" sibTransId="{891ECB6C-1D70-45F5-90E9-8EB3AF91E756}"/>
    <dgm:cxn modelId="{A6532C16-AFEE-4EEA-891E-F5DAB7412E13}" type="presOf" srcId="{73DB572E-062D-41AD-8033-D361B8E583DB}" destId="{2532504F-5FE1-4C97-B485-F05E8885EACC}" srcOrd="0" destOrd="0" presId="urn:microsoft.com/office/officeart/2011/layout/InterconnectedBlockProcess"/>
    <dgm:cxn modelId="{E15E2C18-67B6-4711-9649-C0A3B342415E}" type="presOf" srcId="{1F05A44A-DCD5-466B-8FFA-119759A72279}" destId="{6BCCFBA6-7A43-4631-AD7F-AFB10E1E6CD7}" srcOrd="1" destOrd="1"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A13F076E-3A6E-4F99-8D65-C689DD5AA776}" type="presOf" srcId="{1F05A44A-DCD5-466B-8FFA-119759A72279}" destId="{06F8D57B-EDF4-4CF4-8700-DC2CA3E3028E}" srcOrd="0" destOrd="1"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5C3C918A-4C4A-4DEB-924A-CC330C09FB27}" type="presOf" srcId="{5E92505A-51E0-4F78-B3C5-704ACF8710DE}" destId="{2AAD338D-3122-4454-9A67-16BE024D44E3}"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D1BA1DD0-A52A-47BF-962D-9810C87E1576}" srcId="{5751524B-FB67-4894-A0C5-35151E149D68}" destId="{A59EC69B-8F3F-425B-819F-E8C557946AEE}" srcOrd="2" destOrd="0" parTransId="{0095C3CB-916F-4060-A8DA-DD282FB51587}" sibTransId="{2868AD8D-4E38-46CE-A972-709857BF40AC}"/>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173684" y="811639"/>
          <a:ext cx="1278320"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3DE52A-2F45-45E6-AD0E-D5BEAF609F8E}">
      <dsp:nvSpPr>
        <dsp:cNvPr id="0" name=""/>
        <dsp:cNvSpPr/>
      </dsp:nvSpPr>
      <dsp:spPr>
        <a:xfrm>
          <a:off x="7173684" y="0"/>
          <a:ext cx="1278320" cy="81163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Final Review</a:t>
          </a:r>
        </a:p>
      </dsp:txBody>
      <dsp:txXfrm>
        <a:off x="7173684" y="0"/>
        <a:ext cx="1278320" cy="811639"/>
      </dsp:txXfrm>
    </dsp:sp>
    <dsp:sp modelId="{FC0F1314-3294-4A8C-8DCE-EB53E236164C}">
      <dsp:nvSpPr>
        <dsp:cNvPr id="0" name=""/>
        <dsp:cNvSpPr/>
      </dsp:nvSpPr>
      <dsp:spPr>
        <a:xfrm>
          <a:off x="5898557" y="811639"/>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AAD338D-3122-4454-9A67-16BE024D44E3}">
      <dsp:nvSpPr>
        <dsp:cNvPr id="0" name=""/>
        <dsp:cNvSpPr/>
      </dsp:nvSpPr>
      <dsp:spPr>
        <a:xfrm>
          <a:off x="5898557"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4</a:t>
          </a:r>
        </a:p>
      </dsp:txBody>
      <dsp:txXfrm>
        <a:off x="5898557" y="101454"/>
        <a:ext cx="1278320" cy="710184"/>
      </dsp:txXfrm>
    </dsp:sp>
    <dsp:sp modelId="{2532504F-5FE1-4C97-B485-F05E8885EACC}">
      <dsp:nvSpPr>
        <dsp:cNvPr id="0" name=""/>
        <dsp:cNvSpPr/>
      </dsp:nvSpPr>
      <dsp:spPr>
        <a:xfrm>
          <a:off x="4620236" y="811639"/>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endParaRPr lang="en-US" sz="1400" kern="1200" dirty="0">
            <a:latin typeface="Times New Roman" panose="02020603050405020304" pitchFamily="18" charset="0"/>
            <a:cs typeface="Times New Roman" panose="02020603050405020304" pitchFamily="18" charset="0"/>
          </a:endParaRPr>
        </a:p>
      </dsp:txBody>
      <dsp:txXfrm>
        <a:off x="4782502" y="811639"/>
        <a:ext cx="1116055" cy="2840736"/>
      </dsp:txXfrm>
    </dsp:sp>
    <dsp:sp modelId="{4C66D42D-7E6D-4563-AFDC-369C30B73F70}">
      <dsp:nvSpPr>
        <dsp:cNvPr id="0" name=""/>
        <dsp:cNvSpPr/>
      </dsp:nvSpPr>
      <dsp:spPr>
        <a:xfrm>
          <a:off x="4620236"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3</a:t>
          </a:r>
        </a:p>
      </dsp:txBody>
      <dsp:txXfrm>
        <a:off x="4620236" y="206156"/>
        <a:ext cx="1278320" cy="608729"/>
      </dsp:txXfrm>
    </dsp:sp>
    <dsp:sp modelId="{06F8D57B-EDF4-4CF4-8700-DC2CA3E3028E}">
      <dsp:nvSpPr>
        <dsp:cNvPr id="0" name=""/>
        <dsp:cNvSpPr/>
      </dsp:nvSpPr>
      <dsp:spPr>
        <a:xfrm>
          <a:off x="3341915" y="811639"/>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endParaRPr lang="en-US" sz="1400" kern="1200" dirty="0">
            <a:latin typeface="Times New Roman" panose="02020603050405020304" pitchFamily="18" charset="0"/>
            <a:cs typeface="Times New Roman" panose="02020603050405020304" pitchFamily="18" charset="0"/>
          </a:endParaRPr>
        </a:p>
        <a:p>
          <a:pPr marL="0" lvl="0" indent="0" algn="r" defTabSz="622300">
            <a:lnSpc>
              <a:spcPct val="90000"/>
            </a:lnSpc>
            <a:spcBef>
              <a:spcPct val="0"/>
            </a:spcBef>
            <a:spcAft>
              <a:spcPct val="35000"/>
            </a:spcAft>
            <a:buNone/>
          </a:pPr>
          <a:r>
            <a:rPr lang="en-US" sz="1400" kern="1200"/>
            <a:t>Requirement analysis, system design approval, and frontend prototyping.</a:t>
          </a:r>
        </a:p>
      </dsp:txBody>
      <dsp:txXfrm>
        <a:off x="3504181" y="811639"/>
        <a:ext cx="1116055" cy="2637826"/>
      </dsp:txXfrm>
    </dsp:sp>
    <dsp:sp modelId="{00BB3360-A9BB-4051-A4B1-1216F82F642C}">
      <dsp:nvSpPr>
        <dsp:cNvPr id="0" name=""/>
        <dsp:cNvSpPr/>
      </dsp:nvSpPr>
      <dsp:spPr>
        <a:xfrm>
          <a:off x="3341915"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2</a:t>
          </a:r>
        </a:p>
      </dsp:txBody>
      <dsp:txXfrm>
        <a:off x="3341915" y="304364"/>
        <a:ext cx="1278320" cy="507274"/>
      </dsp:txXfrm>
    </dsp:sp>
    <dsp:sp modelId="{A134CDD1-D85F-44EF-8BEE-9F99A855C1E6}">
      <dsp:nvSpPr>
        <dsp:cNvPr id="0" name=""/>
        <dsp:cNvSpPr/>
      </dsp:nvSpPr>
      <dsp:spPr>
        <a:xfrm>
          <a:off x="2063594" y="811639"/>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Onboarding,</a:t>
          </a:r>
        </a:p>
        <a:p>
          <a:pPr marL="0" lvl="0" indent="0" algn="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role and responsibility discussion and  project planning.</a:t>
          </a:r>
        </a:p>
      </dsp:txBody>
      <dsp:txXfrm>
        <a:off x="2225860" y="811639"/>
        <a:ext cx="1116055" cy="2434917"/>
      </dsp:txXfrm>
    </dsp:sp>
    <dsp:sp modelId="{65257024-FAC0-4522-B139-1CC85B547BE8}">
      <dsp:nvSpPr>
        <dsp:cNvPr id="0" name=""/>
        <dsp:cNvSpPr/>
      </dsp:nvSpPr>
      <dsp:spPr>
        <a:xfrm>
          <a:off x="2063594"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1</a:t>
          </a:r>
        </a:p>
      </dsp:txBody>
      <dsp:txXfrm>
        <a:off x="2063594"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30/01/2026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83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30-01-2026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30-01-2026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30-01-2026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30-01-2026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30-01-2026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30-01-2026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30-01-2026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30-01-2026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30-01-2026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30-01-2026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30-01-2026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30-01-2026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a:t>
            </a:r>
            <a:r>
              <a:rPr lang="en-GB" sz="1700" b="1" dirty="0" err="1">
                <a:solidFill>
                  <a:srgbClr val="17365D"/>
                </a:solidFill>
                <a:latin typeface="Cambria" panose="02040503050406030204" pitchFamily="18" charset="0"/>
                <a:ea typeface="Cambria" panose="02040503050406030204" pitchFamily="18" charset="0"/>
                <a:cs typeface="Verdana"/>
                <a:sym typeface="Verdana"/>
              </a:rPr>
              <a:t>Saptarsi</a:t>
            </a:r>
            <a:r>
              <a:rPr lang="en-GB" sz="1700" b="1" dirty="0">
                <a:solidFill>
                  <a:srgbClr val="17365D"/>
                </a:solidFill>
                <a:latin typeface="Cambria" panose="02040503050406030204" pitchFamily="18" charset="0"/>
                <a:ea typeface="Cambria" panose="02040503050406030204" pitchFamily="18" charset="0"/>
                <a:cs typeface="Verdana"/>
                <a:sym typeface="Verdana"/>
              </a:rPr>
              <a:t> Sanyal</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2" y="4130278"/>
            <a:ext cx="11883258"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CSE7302 - INTERNSHIP</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Dr. Pallavi R</a:t>
            </a: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solidFill>
                  <a:schemeClr val="accent1"/>
                </a:solidFill>
                <a:latin typeface="Cambria" panose="02040503050406030204" pitchFamily="18" charset="0"/>
                <a:ea typeface="Cambria" panose="02040503050406030204" pitchFamily="18" charset="0"/>
                <a:cs typeface="Verdana"/>
                <a:sym typeface="Verdana"/>
              </a:rPr>
              <a:t>Mr.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Saptarsi</a:t>
            </a:r>
            <a:r>
              <a:rPr lang="en-US" sz="2000" b="1" dirty="0">
                <a:solidFill>
                  <a:schemeClr val="accent1"/>
                </a:solidFill>
                <a:latin typeface="Cambria" panose="02040503050406030204" pitchFamily="18" charset="0"/>
                <a:ea typeface="Cambria" panose="02040503050406030204" pitchFamily="18" charset="0"/>
                <a:cs typeface="Verdana"/>
                <a:sym typeface="Verdana"/>
              </a:rPr>
              <a:t> Sanyal</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Review-2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AI SOLUTIONS INTERN</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217017777"/>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Ratish Gurav</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20221CSG0004</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8CSG-01</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993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27591-4F0C-B280-30FC-6FD5A7F57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5A51F-9BCF-7E53-FEBA-948013FC345A}"/>
              </a:ext>
            </a:extLst>
          </p:cNvPr>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a:extLst>
              <a:ext uri="{FF2B5EF4-FFF2-40B4-BE49-F238E27FC236}">
                <a16:creationId xmlns:a16="http://schemas.microsoft.com/office/drawing/2014/main" id="{D3EA6711-A3F7-F598-AC39-43F68B16DC2C}"/>
              </a:ext>
            </a:extLst>
          </p:cNvPr>
          <p:cNvSpPr>
            <a:spLocks noGrp="1"/>
          </p:cNvSpPr>
          <p:nvPr>
            <p:ph idx="1"/>
          </p:nvPr>
        </p:nvSpPr>
        <p:spPr>
          <a:xfrm>
            <a:off x="838200" y="1045031"/>
            <a:ext cx="10515600" cy="4193176"/>
          </a:xfrm>
        </p:spPr>
        <p:txBody>
          <a:bodyPr/>
          <a:lstStyle/>
          <a:p>
            <a:r>
              <a:rPr lang="en-US" b="1" dirty="0" err="1"/>
              <a:t>Raghuraj</a:t>
            </a:r>
            <a:r>
              <a:rPr lang="en-US" b="1" dirty="0"/>
              <a:t> </a:t>
            </a:r>
            <a:r>
              <a:rPr lang="en-US" dirty="0"/>
              <a:t>is an eco-conscious company focused on providing sustainable energy products and infrastructure. Their stated mission is to create a cleaner, more sustainable environment by helping customers adopt </a:t>
            </a:r>
            <a:r>
              <a:rPr lang="en-US" b="1" dirty="0"/>
              <a:t>economical and eco-friendly </a:t>
            </a:r>
            <a:r>
              <a:rPr lang="en-US" dirty="0"/>
              <a:t>lifestyles. </a:t>
            </a:r>
          </a:p>
          <a:p>
            <a:r>
              <a:rPr lang="en-US" dirty="0"/>
              <a:t>They specialize in the sale and installation of various green technology and utility systems.</a:t>
            </a:r>
          </a:p>
          <a:p>
            <a:r>
              <a:rPr lang="en-US" dirty="0"/>
              <a:t>The company is based in </a:t>
            </a:r>
            <a:r>
              <a:rPr lang="en-US" b="1" dirty="0"/>
              <a:t>Goa</a:t>
            </a:r>
            <a:r>
              <a:rPr lang="en-US" dirty="0"/>
              <a:t>, India but operates in </a:t>
            </a:r>
            <a:r>
              <a:rPr lang="en-US" b="1" dirty="0"/>
              <a:t>Mumbai</a:t>
            </a:r>
            <a:r>
              <a:rPr lang="en-US" dirty="0"/>
              <a:t> as well. They specialize in the sale and installation of various green technology and utility systems.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A3AFFA6-7D25-698C-04DF-0B793C790EE9}"/>
              </a:ext>
            </a:extLst>
          </p:cNvPr>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2582242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045031"/>
            <a:ext cx="10515600" cy="4193176"/>
          </a:xfrm>
        </p:spPr>
        <p:txBody>
          <a:bodyPr>
            <a:normAutofit fontScale="92500" lnSpcReduction="20000"/>
          </a:bodyPr>
          <a:lstStyle/>
          <a:p>
            <a:r>
              <a:rPr lang="en-IN" b="1" dirty="0"/>
              <a:t>Products :</a:t>
            </a:r>
          </a:p>
          <a:p>
            <a:pPr marL="0" indent="0">
              <a:buNone/>
            </a:pPr>
            <a:r>
              <a:rPr lang="en-US" dirty="0"/>
              <a:t>The company provides installation and support services for many products, as well as other electrical services.</a:t>
            </a:r>
          </a:p>
          <a:p>
            <a:r>
              <a:rPr lang="en-IN" dirty="0"/>
              <a:t>Solar Panels </a:t>
            </a:r>
          </a:p>
          <a:p>
            <a:r>
              <a:rPr lang="en-IN" dirty="0"/>
              <a:t>Mini Wind Turbines </a:t>
            </a:r>
          </a:p>
          <a:p>
            <a:r>
              <a:rPr lang="en-IN" dirty="0"/>
              <a:t>EV Charging</a:t>
            </a:r>
          </a:p>
          <a:p>
            <a:r>
              <a:rPr lang="en-IN" dirty="0"/>
              <a:t>Transformer Generator </a:t>
            </a:r>
          </a:p>
          <a:p>
            <a:r>
              <a:rPr lang="en-IN" dirty="0"/>
              <a:t>WTP, STP </a:t>
            </a:r>
          </a:p>
          <a:p>
            <a:r>
              <a:rPr lang="en-IN" dirty="0"/>
              <a:t>Swimming Pool </a:t>
            </a:r>
          </a:p>
          <a:p>
            <a:r>
              <a:rPr lang="en-IN" dirty="0"/>
              <a:t>Heat Pump</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13F19-DEA1-20CF-A4B0-79723F61D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F270CD-5230-B2E4-B9E4-F7AAFE418BFC}"/>
              </a:ext>
            </a:extLst>
          </p:cNvPr>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a:extLst>
              <a:ext uri="{FF2B5EF4-FFF2-40B4-BE49-F238E27FC236}">
                <a16:creationId xmlns:a16="http://schemas.microsoft.com/office/drawing/2014/main" id="{F6664E0F-AA75-0717-2BC2-CBE55F644378}"/>
              </a:ext>
            </a:extLst>
          </p:cNvPr>
          <p:cNvSpPr>
            <a:spLocks noGrp="1"/>
          </p:cNvSpPr>
          <p:nvPr>
            <p:ph idx="1"/>
          </p:nvPr>
        </p:nvSpPr>
        <p:spPr>
          <a:xfrm>
            <a:off x="838200" y="1045031"/>
            <a:ext cx="10515600" cy="4193176"/>
          </a:xfrm>
        </p:spPr>
        <p:txBody>
          <a:bodyPr>
            <a:normAutofit fontScale="92500" lnSpcReduction="20000"/>
          </a:bodyPr>
          <a:lstStyle/>
          <a:p>
            <a:r>
              <a:rPr lang="en-IN" b="1" dirty="0"/>
              <a:t>Clients :</a:t>
            </a:r>
          </a:p>
          <a:p>
            <a:pPr marL="0" indent="0">
              <a:buNone/>
            </a:pPr>
            <a:r>
              <a:rPr lang="en-IN" dirty="0"/>
              <a:t>The company boasts a heavy client list of residential and commercial builders, hotels etc. from Mumbai as well as Goa.</a:t>
            </a:r>
          </a:p>
          <a:p>
            <a:r>
              <a:rPr lang="en-IN" dirty="0"/>
              <a:t>Hotel La Calypso, Hotel IVY, Hotel Ramada - Goa </a:t>
            </a:r>
          </a:p>
          <a:p>
            <a:r>
              <a:rPr lang="en-IN" dirty="0"/>
              <a:t>IKON INDUSTRIES – Mumbai</a:t>
            </a:r>
          </a:p>
          <a:p>
            <a:r>
              <a:rPr lang="en-IN" dirty="0"/>
              <a:t>DLH Lok Mitra – Goregaon, Mumbai</a:t>
            </a:r>
          </a:p>
          <a:p>
            <a:r>
              <a:rPr lang="en-IN" dirty="0" err="1"/>
              <a:t>Aadhvay</a:t>
            </a:r>
            <a:r>
              <a:rPr lang="en-IN" dirty="0"/>
              <a:t> Realtors - Goa</a:t>
            </a:r>
          </a:p>
          <a:p>
            <a:r>
              <a:rPr lang="en-IN" dirty="0" err="1"/>
              <a:t>Aadhvay</a:t>
            </a:r>
            <a:r>
              <a:rPr lang="en-IN" dirty="0"/>
              <a:t> Ventures - Goa</a:t>
            </a:r>
          </a:p>
          <a:p>
            <a:r>
              <a:rPr lang="en-IN" dirty="0"/>
              <a:t>Dynamic Crest - Thane</a:t>
            </a:r>
          </a:p>
          <a:p>
            <a:r>
              <a:rPr lang="en-IN" dirty="0"/>
              <a:t>HELICON HEIGHTS CHS. LTD. - Mumbai</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2BDBBCB-98F5-AE81-6B71-41C278B6E55C}"/>
              </a:ext>
            </a:extLst>
          </p:cNvPr>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674665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4058194"/>
          </a:xfrm>
        </p:spPr>
        <p:txBody>
          <a:bodyPr/>
          <a:lstStyle/>
          <a:p>
            <a:r>
              <a:rPr lang="en-US" dirty="0"/>
              <a:t>I will be designated as an AI Solutions Intern and will be working directly with the technical team.</a:t>
            </a:r>
          </a:p>
          <a:p>
            <a:r>
              <a:rPr lang="en-US" dirty="0"/>
              <a:t>Scope of work includes developing an AI-driven chatbot capable of answering technical queries about our products (e.g., Solar efficiency, EV compatibility), automating initial customer consultations, and providing instant support for installation services using Generative AI and LLMs.</a:t>
            </a:r>
          </a:p>
          <a:p>
            <a:r>
              <a:rPr lang="en-US" dirty="0">
                <a:latin typeface="Times New Roman" panose="02020603050405020304" pitchFamily="18" charset="0"/>
                <a:cs typeface="Times New Roman" panose="02020603050405020304" pitchFamily="18" charset="0"/>
              </a:rPr>
              <a:t>Also, other technical consultation for developing website and creating an online presence for the company.</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658682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lstStyle/>
          <a:p>
            <a:r>
              <a:rPr lang="en-IN" dirty="0">
                <a:latin typeface="Times New Roman" panose="02020603050405020304" pitchFamily="18" charset="0"/>
                <a:cs typeface="Times New Roman" panose="02020603050405020304" pitchFamily="18" charset="0"/>
              </a:rPr>
              <a:t>Intern development team, reporting to Project manager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0696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184367"/>
            <a:ext cx="10515600" cy="4058194"/>
          </a:xfrm>
        </p:spPr>
        <p:txBody>
          <a:bodyPr/>
          <a:lstStyle/>
          <a:p>
            <a:r>
              <a:rPr lang="en-US" dirty="0"/>
              <a:t>There were limited internship opportunities available in my specific field of interest, which made securing a relevant placement challenging within the given timeframe.</a:t>
            </a:r>
          </a:p>
          <a:p>
            <a:r>
              <a:rPr lang="en-US" dirty="0"/>
              <a:t>Since the role involves 'leading the implementation' of a new system,  I had to go beyond coding questions and explain how the AI would practically automate consultations and reduce the workload for the sales team.</a:t>
            </a:r>
          </a:p>
          <a:p>
            <a:r>
              <a:rPr lang="en-IN" dirty="0">
                <a:latin typeface="Times New Roman" panose="02020603050405020304" pitchFamily="18" charset="0"/>
                <a:cs typeface="Times New Roman" panose="02020603050405020304" pitchFamily="18" charset="0"/>
              </a:rPr>
              <a:t>Getting adjusted to the team was not much of a challenge as I have already worked with them on other different projects.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1206156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184367"/>
            <a:ext cx="10515600" cy="4058194"/>
          </a:xfrm>
        </p:spPr>
        <p:txBody>
          <a:bodyPr/>
          <a:lstStyle/>
          <a:p>
            <a:r>
              <a:rPr lang="en-US" dirty="0"/>
              <a:t>To establish a comprehensive digital identity for </a:t>
            </a:r>
            <a:r>
              <a:rPr lang="en-US" b="1" dirty="0" err="1"/>
              <a:t>Raghuraj</a:t>
            </a:r>
            <a:r>
              <a:rPr lang="en-US" dirty="0"/>
              <a:t>, enabling the company to expand its market reach and streamline customer interactions through a modern web platform and other relevant social platforms.</a:t>
            </a:r>
          </a:p>
          <a:p>
            <a:r>
              <a:rPr lang="en-US" dirty="0"/>
              <a:t> And gain experience of building software solutions from the foundation to the deployment.</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2516334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
        <p:nvSpPr>
          <p:cNvPr id="5" name="Rectangle 1">
            <a:extLst>
              <a:ext uri="{FF2B5EF4-FFF2-40B4-BE49-F238E27FC236}">
                <a16:creationId xmlns:a16="http://schemas.microsoft.com/office/drawing/2014/main" id="{7EA2CDBB-3989-B77E-7A40-2B8F19CB3BAD}"/>
              </a:ext>
            </a:extLst>
          </p:cNvPr>
          <p:cNvSpPr>
            <a:spLocks noGrp="1" noChangeArrowheads="1"/>
          </p:cNvSpPr>
          <p:nvPr>
            <p:ph idx="1"/>
          </p:nvPr>
        </p:nvSpPr>
        <p:spPr bwMode="auto">
          <a:xfrm>
            <a:off x="824753" y="1012954"/>
            <a:ext cx="105156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Legacy Systems:</a:t>
            </a:r>
            <a:r>
              <a:rPr kumimoji="0" lang="en-US" altLang="en-US" b="0" i="0" u="none" strike="noStrike" cap="none" normalizeH="0" baseline="0" dirty="0">
                <a:ln>
                  <a:noFill/>
                </a:ln>
                <a:solidFill>
                  <a:schemeClr val="tx1"/>
                </a:solidFill>
                <a:effectLst/>
              </a:rPr>
              <a:t> Traditional rule-based chatbots failed to handle complex, non-scripted queries.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GenAI &amp; RAG:</a:t>
            </a:r>
            <a:r>
              <a:rPr kumimoji="0" lang="en-US" altLang="en-US" b="0" i="0" u="none" strike="noStrike" cap="none" normalizeH="0" baseline="0" dirty="0">
                <a:ln>
                  <a:noFill/>
                </a:ln>
                <a:solidFill>
                  <a:schemeClr val="tx1"/>
                </a:solidFill>
                <a:effectLst/>
              </a:rPr>
              <a:t> Modern approaches use Large Language Models (LLMs) combined with </a:t>
            </a:r>
            <a:r>
              <a:rPr kumimoji="0" lang="en-US" altLang="en-US" b="1" i="0" u="none" strike="noStrike" cap="none" normalizeH="0" baseline="0" dirty="0">
                <a:ln>
                  <a:noFill/>
                </a:ln>
                <a:solidFill>
                  <a:schemeClr val="tx1"/>
                </a:solidFill>
                <a:effectLst/>
              </a:rPr>
              <a:t>Retrieval-Augmented Generation (RAG)</a:t>
            </a:r>
            <a:r>
              <a:rPr kumimoji="0" lang="en-US" altLang="en-US" b="0" i="0" u="none" strike="noStrike" cap="none" normalizeH="0" baseline="0" dirty="0">
                <a:ln>
                  <a:noFill/>
                </a:ln>
                <a:solidFill>
                  <a:schemeClr val="tx1"/>
                </a:solidFill>
                <a:effectLst/>
              </a:rPr>
              <a:t>. This allows AI to fetch accurate answers from private company manuals rather than guessing.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Web Tech:</a:t>
            </a:r>
            <a:r>
              <a:rPr kumimoji="0" lang="en-US" altLang="en-US" b="0" i="0" u="none" strike="noStrike" cap="none" normalizeH="0" baseline="0" dirty="0">
                <a:ln>
                  <a:noFill/>
                </a:ln>
                <a:solidFill>
                  <a:schemeClr val="tx1"/>
                </a:solidFill>
                <a:effectLst/>
              </a:rPr>
              <a:t> Research confirms </a:t>
            </a:r>
            <a:r>
              <a:rPr kumimoji="0" lang="en-US" altLang="en-US" b="1" i="0" u="none" strike="noStrike" cap="none" normalizeH="0" baseline="0" dirty="0">
                <a:ln>
                  <a:noFill/>
                </a:ln>
                <a:solidFill>
                  <a:schemeClr val="tx1"/>
                </a:solidFill>
                <a:effectLst/>
              </a:rPr>
              <a:t>React.js</a:t>
            </a:r>
            <a:r>
              <a:rPr kumimoji="0" lang="en-US" altLang="en-US" b="0" i="0" u="none" strike="noStrike" cap="none" normalizeH="0" baseline="0" dirty="0">
                <a:ln>
                  <a:noFill/>
                </a:ln>
                <a:solidFill>
                  <a:schemeClr val="tx1"/>
                </a:solidFill>
                <a:effectLst/>
              </a:rPr>
              <a:t> (Single Page Applications) improves user retention by eliminating page reloads, essential for maintaining active chat sessions.</a:t>
            </a:r>
          </a:p>
        </p:txBody>
      </p:sp>
    </p:spTree>
    <p:extLst>
      <p:ext uri="{BB962C8B-B14F-4D97-AF65-F5344CB8AC3E}">
        <p14:creationId xmlns:p14="http://schemas.microsoft.com/office/powerpoint/2010/main" val="3129921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184367"/>
            <a:ext cx="10515600" cy="4058194"/>
          </a:xfrm>
        </p:spPr>
        <p:txBody>
          <a:bodyPr/>
          <a:lstStyle/>
          <a:p>
            <a:r>
              <a:rPr lang="en-US" b="1" dirty="0"/>
              <a:t>The Disconnect:</a:t>
            </a:r>
            <a:r>
              <a:rPr lang="en-US" dirty="0"/>
              <a:t> Sustainable energy products have complex technical specifications that confuse customers. "</a:t>
            </a:r>
            <a:r>
              <a:rPr lang="en-US" dirty="0" err="1"/>
              <a:t>Raghuraj</a:t>
            </a:r>
            <a:r>
              <a:rPr lang="en-US" dirty="0"/>
              <a:t>" currently relies on manual support, leading to slow response times and scalability issues during high traffic. </a:t>
            </a:r>
            <a:r>
              <a:rPr lang="en-US" b="1" dirty="0"/>
              <a:t>The Need:</a:t>
            </a:r>
            <a:r>
              <a:rPr lang="en-US" dirty="0"/>
              <a:t> A digital transformation is required to move from manual troubleshooting to an automated, instant, and accessible web-based AI solution.</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3611428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838200" y="1184367"/>
            <a:ext cx="10515600" cy="4058194"/>
          </a:xfrm>
        </p:spPr>
        <p:txBody>
          <a:bodyPr/>
          <a:lstStyle/>
          <a:p>
            <a:r>
              <a:rPr lang="en-US" b="1" dirty="0"/>
              <a:t>Overview:</a:t>
            </a:r>
            <a:r>
              <a:rPr lang="en-US" dirty="0"/>
              <a:t> A unified React.js website acting as a product showcase and an automated support agent. </a:t>
            </a:r>
            <a:r>
              <a:rPr lang="en-US" b="1" dirty="0"/>
              <a:t>Workflow:</a:t>
            </a:r>
            <a:endParaRPr lang="en-US" dirty="0"/>
          </a:p>
          <a:p>
            <a:r>
              <a:rPr lang="en-US" b="1" dirty="0"/>
              <a:t>Frontend:</a:t>
            </a:r>
            <a:r>
              <a:rPr lang="en-US" dirty="0"/>
              <a:t> Built on </a:t>
            </a:r>
            <a:r>
              <a:rPr lang="en-US" b="1" dirty="0"/>
              <a:t>React.js</a:t>
            </a:r>
            <a:r>
              <a:rPr lang="en-US" dirty="0"/>
              <a:t> for a responsive, smooth user interface.</a:t>
            </a:r>
          </a:p>
          <a:p>
            <a:r>
              <a:rPr lang="en-US" b="1" dirty="0"/>
              <a:t>AI Engine:</a:t>
            </a:r>
            <a:r>
              <a:rPr lang="en-US" dirty="0"/>
              <a:t> A </a:t>
            </a:r>
            <a:r>
              <a:rPr lang="en-US" b="1" dirty="0" err="1"/>
              <a:t>FastAPI</a:t>
            </a:r>
            <a:r>
              <a:rPr lang="en-US" dirty="0"/>
              <a:t> backend captures queries, searches internal PDF manuals (Vector Search), and uses </a:t>
            </a:r>
            <a:r>
              <a:rPr lang="en-US" b="1" dirty="0"/>
              <a:t>Gemini API</a:t>
            </a:r>
            <a:r>
              <a:rPr lang="en-US" dirty="0"/>
              <a:t> to generate accurate answers.</a:t>
            </a:r>
          </a:p>
          <a:p>
            <a:r>
              <a:rPr lang="en-US" b="1" dirty="0"/>
              <a:t>Integration:</a:t>
            </a:r>
            <a:r>
              <a:rPr lang="en-US" dirty="0"/>
              <a:t> The chatbot floats globally across the site, preserving conversation context while the user browses products.</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Tree>
    <p:extLst>
      <p:ext uri="{BB962C8B-B14F-4D97-AF65-F5344CB8AC3E}">
        <p14:creationId xmlns:p14="http://schemas.microsoft.com/office/powerpoint/2010/main" val="2255950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838200" y="1184367"/>
            <a:ext cx="10515600" cy="4058194"/>
          </a:xfrm>
        </p:spPr>
        <p:txBody>
          <a:bodyPr>
            <a:noAutofit/>
          </a:bodyPr>
          <a:lstStyle/>
          <a:p>
            <a:r>
              <a:rPr lang="en-IN" b="1" dirty="0"/>
              <a:t>Hardware:</a:t>
            </a:r>
            <a:endParaRPr lang="en-IN" dirty="0"/>
          </a:p>
          <a:p>
            <a:r>
              <a:rPr lang="en-IN" b="1" dirty="0"/>
              <a:t>CPU:</a:t>
            </a:r>
            <a:r>
              <a:rPr lang="en-IN" dirty="0"/>
              <a:t> Intel Core i5 / </a:t>
            </a:r>
            <a:r>
              <a:rPr lang="en-IN" dirty="0" err="1"/>
              <a:t>Ryzen</a:t>
            </a:r>
            <a:r>
              <a:rPr lang="en-IN" dirty="0"/>
              <a:t> 5 or better.</a:t>
            </a:r>
          </a:p>
          <a:p>
            <a:r>
              <a:rPr lang="en-IN" b="1" dirty="0"/>
              <a:t>RAM:</a:t>
            </a:r>
            <a:r>
              <a:rPr lang="en-IN" dirty="0"/>
              <a:t> 16GB (for local testing).</a:t>
            </a:r>
          </a:p>
          <a:p>
            <a:r>
              <a:rPr lang="en-IN" b="1" dirty="0"/>
              <a:t>Internet:</a:t>
            </a:r>
            <a:r>
              <a:rPr lang="en-IN" dirty="0"/>
              <a:t> High-speed connection for API latency.</a:t>
            </a:r>
          </a:p>
          <a:p>
            <a:endParaRPr lang="en-IN" dirty="0"/>
          </a:p>
          <a:p>
            <a:r>
              <a:rPr lang="en-IN" b="1" dirty="0"/>
              <a:t>Software:</a:t>
            </a:r>
            <a:endParaRPr lang="en-IN" dirty="0"/>
          </a:p>
          <a:p>
            <a:r>
              <a:rPr lang="en-IN" b="1" dirty="0"/>
              <a:t>Frontend:</a:t>
            </a:r>
            <a:r>
              <a:rPr lang="en-IN" dirty="0"/>
              <a:t> React.js, Tailwind CSS, Node.js.</a:t>
            </a:r>
          </a:p>
          <a:p>
            <a:r>
              <a:rPr lang="en-IN" b="1" dirty="0"/>
              <a:t>Backend:</a:t>
            </a:r>
            <a:r>
              <a:rPr lang="en-IN" dirty="0"/>
              <a:t> Python (</a:t>
            </a:r>
            <a:r>
              <a:rPr lang="en-IN" dirty="0" err="1"/>
              <a:t>FastAPI</a:t>
            </a:r>
            <a:r>
              <a:rPr lang="en-IN" dirty="0"/>
              <a:t>), PostgreSQL.</a:t>
            </a:r>
          </a:p>
          <a:p>
            <a:r>
              <a:rPr lang="en-IN" b="1" dirty="0"/>
              <a:t>AI:</a:t>
            </a:r>
            <a:r>
              <a:rPr lang="en-IN" dirty="0"/>
              <a:t> Google Gemini API, </a:t>
            </a:r>
            <a:r>
              <a:rPr lang="en-IN" dirty="0" err="1"/>
              <a:t>LangChain</a:t>
            </a:r>
            <a:r>
              <a:rPr lang="en-IN" dirty="0"/>
              <a: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Tree>
    <p:extLst>
      <p:ext uri="{BB962C8B-B14F-4D97-AF65-F5344CB8AC3E}">
        <p14:creationId xmlns:p14="http://schemas.microsoft.com/office/powerpoint/2010/main" val="1840268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
        <p:nvSpPr>
          <p:cNvPr id="5" name="Rectangle 1">
            <a:extLst>
              <a:ext uri="{FF2B5EF4-FFF2-40B4-BE49-F238E27FC236}">
                <a16:creationId xmlns:a16="http://schemas.microsoft.com/office/drawing/2014/main" id="{A68F2648-A04A-08BF-EC4B-CAADB6E9D56D}"/>
              </a:ext>
            </a:extLst>
          </p:cNvPr>
          <p:cNvSpPr>
            <a:spLocks noGrp="1" noChangeArrowheads="1"/>
          </p:cNvSpPr>
          <p:nvPr>
            <p:ph idx="1"/>
          </p:nvPr>
        </p:nvSpPr>
        <p:spPr bwMode="auto">
          <a:xfrm>
            <a:off x="838200" y="1012954"/>
            <a:ext cx="105156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24/7 Availability:</a:t>
            </a:r>
            <a:r>
              <a:rPr kumimoji="0" lang="en-US" altLang="en-US" b="0" i="0" u="none" strike="noStrike" cap="none" normalizeH="0" baseline="0" dirty="0">
                <a:ln>
                  <a:noFill/>
                </a:ln>
                <a:solidFill>
                  <a:schemeClr val="tx1"/>
                </a:solidFill>
                <a:effectLst/>
              </a:rPr>
              <a:t> Instant technical support regardless of business hours.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Scalability:</a:t>
            </a:r>
            <a:r>
              <a:rPr kumimoji="0" lang="en-US" altLang="en-US" b="0" i="0" u="none" strike="noStrike" cap="none" normalizeH="0" baseline="0" dirty="0">
                <a:ln>
                  <a:noFill/>
                </a:ln>
                <a:solidFill>
                  <a:schemeClr val="tx1"/>
                </a:solidFill>
                <a:effectLst/>
              </a:rPr>
              <a:t> Handles thousands of concurrent queries without extra hiring costs.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Accuracy:</a:t>
            </a:r>
            <a:r>
              <a:rPr kumimoji="0" lang="en-US" altLang="en-US" b="0" i="0" u="none" strike="noStrike" cap="none" normalizeH="0" baseline="0" dirty="0">
                <a:ln>
                  <a:noFill/>
                </a:ln>
                <a:solidFill>
                  <a:schemeClr val="tx1"/>
                </a:solidFill>
                <a:effectLst/>
              </a:rPr>
              <a:t> RAG implementation ensures answers come strictly from official manuals, not AI hallucinations.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Enhanced UX:</a:t>
            </a:r>
            <a:r>
              <a:rPr kumimoji="0" lang="en-US" altLang="en-US" b="0" i="0" u="none" strike="noStrike" cap="none" normalizeH="0" baseline="0" dirty="0">
                <a:ln>
                  <a:noFill/>
                </a:ln>
                <a:solidFill>
                  <a:schemeClr val="tx1"/>
                </a:solidFill>
                <a:effectLst/>
              </a:rPr>
              <a:t> React.js ensures a fast, app-like browsing experience without page reloads.</a:t>
            </a:r>
          </a:p>
        </p:txBody>
      </p:sp>
    </p:spTree>
    <p:extLst>
      <p:ext uri="{BB962C8B-B14F-4D97-AF65-F5344CB8AC3E}">
        <p14:creationId xmlns:p14="http://schemas.microsoft.com/office/powerpoint/2010/main" val="2499704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063457988"/>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470371" y="901298"/>
            <a:ext cx="6948890" cy="369332"/>
          </a:xfrm>
          <a:prstGeom prst="rect">
            <a:avLst/>
          </a:prstGeom>
          <a:noFill/>
        </p:spPr>
        <p:txBody>
          <a:bodyPr wrap="none" rtlCol="0">
            <a:spAutoFit/>
          </a:bodyPr>
          <a:lstStyle/>
          <a:p>
            <a:r>
              <a:rPr lang="en-GB" dirty="0">
                <a:solidFill>
                  <a:srgbClr val="0070C0"/>
                </a:solidFill>
              </a:rPr>
              <a:t>Note: Write in the below table what u will be achieving in each review</a:t>
            </a:r>
          </a:p>
        </p:txBody>
      </p:sp>
    </p:spTree>
    <p:extLst>
      <p:ext uri="{BB962C8B-B14F-4D97-AF65-F5344CB8AC3E}">
        <p14:creationId xmlns:p14="http://schemas.microsoft.com/office/powerpoint/2010/main" val="3497100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dirty="0"/>
              <a:t>https://github.com/ratishgurav/CSE7302-INTERNSHIP</a:t>
            </a:r>
          </a:p>
        </p:txBody>
      </p:sp>
    </p:spTree>
    <p:extLst>
      <p:ext uri="{BB962C8B-B14F-4D97-AF65-F5344CB8AC3E}">
        <p14:creationId xmlns:p14="http://schemas.microsoft.com/office/powerpoint/2010/main" val="295621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17</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18</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7190</TotalTime>
  <Words>994</Words>
  <Application>Microsoft Office PowerPoint</Application>
  <PresentationFormat>Widescreen</PresentationFormat>
  <Paragraphs>126</Paragraphs>
  <Slides>18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About Company or Organization</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Ratish Gurav</cp:lastModifiedBy>
  <cp:revision>720</cp:revision>
  <dcterms:created xsi:type="dcterms:W3CDTF">2022-10-14T07:18:17Z</dcterms:created>
  <dcterms:modified xsi:type="dcterms:W3CDTF">2026-01-30T13:09:26Z</dcterms:modified>
</cp:coreProperties>
</file>