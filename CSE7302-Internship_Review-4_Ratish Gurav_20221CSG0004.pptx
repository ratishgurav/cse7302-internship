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9" r:id="rId2"/>
    <p:sldId id="260" r:id="rId3"/>
    <p:sldId id="270" r:id="rId4"/>
    <p:sldId id="261" r:id="rId5"/>
    <p:sldId id="271" r:id="rId6"/>
    <p:sldId id="262" r:id="rId7"/>
    <p:sldId id="263" r:id="rId8"/>
    <p:sldId id="264" r:id="rId9"/>
    <p:sldId id="265" r:id="rId10"/>
    <p:sldId id="272" r:id="rId11"/>
    <p:sldId id="273" r:id="rId12"/>
    <p:sldId id="274" r:id="rId13"/>
    <p:sldId id="275" r:id="rId14"/>
    <p:sldId id="276" r:id="rId15"/>
    <p:sldId id="277" r:id="rId16"/>
    <p:sldId id="278" r:id="rId17"/>
    <p:sldId id="279" r:id="rId18"/>
    <p:sldId id="280" r:id="rId19"/>
    <p:sldId id="281" r:id="rId20"/>
    <p:sldId id="282" r:id="rId21"/>
    <p:sldId id="266" r:id="rId22"/>
    <p:sldId id="267" r:id="rId23"/>
    <p:sldId id="268"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9" d="100"/>
          <a:sy n="89"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phldr="0"/>
      <dgm:spPr/>
      <dgm:t>
        <a:bodyPr/>
        <a:lstStyle/>
        <a:p>
          <a:r>
            <a:rPr lang="en-US" dirty="0">
              <a:latin typeface="Times New Roman" panose="02020603050405020304" pitchFamily="18" charset="0"/>
              <a:cs typeface="Times New Roman" panose="02020603050405020304" pitchFamily="18" charset="0"/>
            </a:rPr>
            <a:t>Onboarding,</a:t>
          </a:r>
        </a:p>
        <a:p>
          <a:r>
            <a:rPr lang="en-US" dirty="0">
              <a:latin typeface="Times New Roman" panose="02020603050405020304" pitchFamily="18" charset="0"/>
              <a:cs typeface="Times New Roman" panose="02020603050405020304" pitchFamily="18" charset="0"/>
            </a:rPr>
            <a:t>role and responsibility discussion and  project planning.</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0"/>
      <dgm:spPr/>
      <dgm:t>
        <a:bodyPr/>
        <a:lstStyle/>
        <a:p>
          <a:r>
            <a:rPr lang="en-US" dirty="0"/>
            <a:t>Requirement analysis, system design approval, and frontend prototyping.</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dgm:spPr/>
      <dgm:t>
        <a:bodyPr/>
        <a:lstStyle/>
        <a:p>
          <a:pPr>
            <a:buNone/>
          </a:pPr>
          <a:r>
            <a:rPr lang="en-US" dirty="0"/>
            <a:t>Backend development, database deployment, and core AI module integration.</a:t>
          </a:r>
        </a:p>
        <a:p>
          <a:pPr>
            <a:buNone/>
          </a:pPr>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4C46BC49-56EE-432B-992D-C2462631661F}">
      <dgm:prSet/>
      <dgm:spPr/>
      <dgm:t>
        <a:bodyPr/>
        <a:lstStyle/>
        <a:p>
          <a:pPr>
            <a:buNone/>
          </a:pPr>
          <a:r>
            <a:rPr lang="en-US" dirty="0"/>
            <a:t>Completed full-stack integration of AI chatbot system</a:t>
          </a:r>
          <a:endParaRPr lang="en-IN" dirty="0"/>
        </a:p>
      </dgm:t>
    </dgm:pt>
    <dgm:pt modelId="{99D573BB-66F7-4C5D-B45C-9FE5BEF3423F}" type="parTrans" cxnId="{3FAD6088-C08A-4F4D-9C34-64E6572D2F41}">
      <dgm:prSet/>
      <dgm:spPr/>
      <dgm:t>
        <a:bodyPr/>
        <a:lstStyle/>
        <a:p>
          <a:endParaRPr lang="en-IN"/>
        </a:p>
      </dgm:t>
    </dgm:pt>
    <dgm:pt modelId="{D55C76C0-1AB6-496C-BB0D-5770A7749465}" type="sibTrans" cxnId="{3FAD6088-C08A-4F4D-9C34-64E6572D2F41}">
      <dgm:prSet/>
      <dgm:spPr/>
      <dgm:t>
        <a:bodyPr/>
        <a:lstStyle/>
        <a:p>
          <a:endParaRPr lang="en-IN"/>
        </a:p>
      </dgm:t>
    </dgm:pt>
    <dgm:pt modelId="{C8890FC5-BC71-4CFD-900D-5BD3B2AB34A2}">
      <dgm:prSet/>
      <dgm:spPr/>
      <dgm:t>
        <a:bodyPr/>
        <a:lstStyle/>
        <a:p>
          <a:pPr>
            <a:buNone/>
          </a:pPr>
          <a:r>
            <a:rPr lang="en-US" dirty="0"/>
            <a:t>Testing, debugging, and performance optimization</a:t>
          </a:r>
        </a:p>
      </dgm:t>
    </dgm:pt>
    <dgm:pt modelId="{CEDE7C5F-DEC9-4D4A-BF44-7561ADCD101C}" type="parTrans" cxnId="{D5A99CC3-6317-472E-A067-8DDD1E1A0E65}">
      <dgm:prSet/>
      <dgm:spPr/>
      <dgm:t>
        <a:bodyPr/>
        <a:lstStyle/>
        <a:p>
          <a:endParaRPr lang="en-IN"/>
        </a:p>
      </dgm:t>
    </dgm:pt>
    <dgm:pt modelId="{08879EAE-589A-4498-8347-6EBC9A7C9765}" type="sibTrans" cxnId="{D5A99CC3-6317-472E-A067-8DDD1E1A0E65}">
      <dgm:prSet/>
      <dgm:spPr/>
      <dgm:t>
        <a:bodyPr/>
        <a:lstStyle/>
        <a:p>
          <a:endParaRPr lang="en-IN"/>
        </a:p>
      </dgm:t>
    </dgm:pt>
    <dgm:pt modelId="{D16DC231-79A9-47F8-96F5-933A79C3C8B7}">
      <dgm:prSet/>
      <dgm:spPr/>
      <dgm:t>
        <a:bodyPr/>
        <a:lstStyle/>
        <a:p>
          <a:pPr>
            <a:buNone/>
          </a:pPr>
          <a:r>
            <a:rPr lang="en-US"/>
            <a:t>Prepared technical documentation and deployment guidelines Delivered final working prototype with live demonstration</a:t>
          </a:r>
          <a:endParaRPr lang="en-IN"/>
        </a:p>
      </dgm:t>
    </dgm:pt>
    <dgm:pt modelId="{8C7F855C-1C0A-4EF3-A76F-C36255F9F978}" type="parTrans" cxnId="{5D76ACC4-82B3-4BAA-8F83-0E9FDFF1D688}">
      <dgm:prSet/>
      <dgm:spPr/>
      <dgm:t>
        <a:bodyPr/>
        <a:lstStyle/>
        <a:p>
          <a:endParaRPr lang="en-IN"/>
        </a:p>
      </dgm:t>
    </dgm:pt>
    <dgm:pt modelId="{09E0B7AB-FBF6-4488-A6E1-2EAF7B470A9E}" type="sibTrans" cxnId="{5D76ACC4-82B3-4BAA-8F83-0E9FDFF1D688}">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269A4001-7F36-4605-99D5-3D31173C031E}" type="presOf" srcId="{4C46BC49-56EE-432B-992D-C2462631661F}" destId="{FC0F1314-3294-4A8C-8DCE-EB53E236164C}"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6EA411C-066C-4794-9BB3-3481CE3FB60E}" type="presOf" srcId="{C8890FC5-BC71-4CFD-900D-5BD3B2AB34A2}" destId="{FC0F1314-3294-4A8C-8DCE-EB53E236164C}" srcOrd="0" destOrd="1"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F66E72B-606E-4325-974E-42EECA7BABE6}" type="presOf" srcId="{D16DC231-79A9-47F8-96F5-933A79C3C8B7}" destId="{8CAE5A4D-0C7B-48A6-917B-0B8433D0574B}" srcOrd="0" destOrd="0" presId="urn:microsoft.com/office/officeart/2011/layout/InterconnectedBlockProcess"/>
    <dgm:cxn modelId="{05CA453D-004C-4BA2-BE7B-016098AE366F}" type="presOf" srcId="{D16DC231-79A9-47F8-96F5-933A79C3C8B7}" destId="{928B615F-0F8D-4140-A638-0FBB8F5BF1E9}" srcOrd="1"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596E6655-3B5E-428D-BF53-B0E8AA52D731}" type="presOf" srcId="{C8890FC5-BC71-4CFD-900D-5BD3B2AB34A2}" destId="{98225A61-A0EC-450A-BED8-EF2E47E8FD18}" srcOrd="1" destOrd="1"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3FAD6088-C08A-4F4D-9C34-64E6572D2F41}" srcId="{5E92505A-51E0-4F78-B3C5-704ACF8710DE}" destId="{4C46BC49-56EE-432B-992D-C2462631661F}" srcOrd="0" destOrd="0" parTransId="{99D573BB-66F7-4C5D-B45C-9FE5BEF3423F}" sibTransId="{D55C76C0-1AB6-496C-BB0D-5770A7749465}"/>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5A99CC3-6317-472E-A067-8DDD1E1A0E65}" srcId="{5E92505A-51E0-4F78-B3C5-704ACF8710DE}" destId="{C8890FC5-BC71-4CFD-900D-5BD3B2AB34A2}" srcOrd="1" destOrd="0" parTransId="{CEDE7C5F-DEC9-4D4A-BF44-7561ADCD101C}" sibTransId="{08879EAE-589A-4498-8347-6EBC9A7C9765}"/>
    <dgm:cxn modelId="{5D76ACC4-82B3-4BAA-8F83-0E9FDFF1D688}" srcId="{65C051F6-A849-4495-A964-CD4C650B9C06}" destId="{D16DC231-79A9-47F8-96F5-933A79C3C8B7}" srcOrd="0" destOrd="0" parTransId="{8C7F855C-1C0A-4EF3-A76F-C36255F9F978}" sibTransId="{09E0B7AB-FBF6-4488-A6E1-2EAF7B470A9E}"/>
    <dgm:cxn modelId="{D1BA1DD0-A52A-47BF-962D-9810C87E1576}" srcId="{5751524B-FB67-4894-A0C5-35151E149D68}" destId="{A59EC69B-8F3F-425B-819F-E8C557946AEE}" srcOrd="2" destOrd="0" parTransId="{0095C3CB-916F-4060-A8DA-DD282FB51587}" sibTransId="{2868AD8D-4E38-46CE-A972-709857BF40AC}"/>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DCC59CE9-BA5B-4B85-A38E-5527CFED299F}" type="presOf" srcId="{4C46BC49-56EE-432B-992D-C2462631661F}" destId="{98225A61-A0EC-450A-BED8-EF2E47E8FD18}" srcOrd="1" destOrd="0" presId="urn:microsoft.com/office/officeart/2011/layout/InterconnectedBlockProcess"/>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9"/>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275" tIns="41275" rIns="41275" bIns="41275" numCol="1" spcCol="1270" anchor="t" anchorCtr="0">
          <a:noAutofit/>
        </a:bodyPr>
        <a:lstStyle/>
        <a:p>
          <a:pPr marL="0" lvl="0" indent="0" algn="r" defTabSz="577850">
            <a:lnSpc>
              <a:spcPct val="90000"/>
            </a:lnSpc>
            <a:spcBef>
              <a:spcPct val="0"/>
            </a:spcBef>
            <a:spcAft>
              <a:spcPct val="35000"/>
            </a:spcAft>
            <a:buNone/>
          </a:pPr>
          <a:r>
            <a:rPr lang="en-US" sz="1300" kern="1200"/>
            <a:t>Prepared technical documentation and deployment guidelines Delivered final working prototype with live demonstration</a:t>
          </a:r>
          <a:endParaRPr lang="en-IN" sz="1300" kern="1200"/>
        </a:p>
      </dsp:txBody>
      <dsp:txXfrm>
        <a:off x="7335949" y="811639"/>
        <a:ext cx="1116055" cy="3246556"/>
      </dsp:txXfrm>
    </dsp:sp>
    <dsp:sp modelId="{C73DE52A-2F45-45E6-AD0E-D5BEAF609F8E}">
      <dsp:nvSpPr>
        <dsp:cNvPr id="0" name=""/>
        <dsp:cNvSpPr/>
      </dsp:nvSpPr>
      <dsp:spPr>
        <a:xfrm>
          <a:off x="7173684"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9"/>
      </dsp:txXfrm>
    </dsp:sp>
    <dsp:sp modelId="{FC0F1314-3294-4A8C-8DCE-EB53E236164C}">
      <dsp:nvSpPr>
        <dsp:cNvPr id="0" name=""/>
        <dsp:cNvSpPr/>
      </dsp:nvSpPr>
      <dsp:spPr>
        <a:xfrm>
          <a:off x="5898557" y="811639"/>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275" tIns="41275" rIns="41275" bIns="41275" numCol="1" spcCol="1270" anchor="t" anchorCtr="0">
          <a:noAutofit/>
        </a:bodyPr>
        <a:lstStyle/>
        <a:p>
          <a:pPr marL="0" lvl="0" indent="0" algn="r" defTabSz="577850">
            <a:lnSpc>
              <a:spcPct val="90000"/>
            </a:lnSpc>
            <a:spcBef>
              <a:spcPct val="0"/>
            </a:spcBef>
            <a:spcAft>
              <a:spcPct val="35000"/>
            </a:spcAft>
            <a:buNone/>
          </a:pPr>
          <a:r>
            <a:rPr lang="en-US" sz="1300" kern="1200" dirty="0"/>
            <a:t>Completed full-stack integration of AI chatbot system</a:t>
          </a:r>
          <a:endParaRPr lang="en-IN" sz="1300" kern="1200" dirty="0"/>
        </a:p>
        <a:p>
          <a:pPr marL="0" lvl="0" indent="0" algn="r" defTabSz="577850">
            <a:lnSpc>
              <a:spcPct val="90000"/>
            </a:lnSpc>
            <a:spcBef>
              <a:spcPct val="0"/>
            </a:spcBef>
            <a:spcAft>
              <a:spcPct val="35000"/>
            </a:spcAft>
            <a:buNone/>
          </a:pPr>
          <a:r>
            <a:rPr lang="en-US" sz="1300" kern="1200" dirty="0"/>
            <a:t>Testing, debugging, and performance optimization</a:t>
          </a:r>
        </a:p>
      </dsp:txBody>
      <dsp:txXfrm>
        <a:off x="6060823" y="811639"/>
        <a:ext cx="1116055" cy="3043646"/>
      </dsp:txXfrm>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9"/>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275" tIns="41275" rIns="41275" bIns="41275" numCol="1" spcCol="1270" anchor="t" anchorCtr="0">
          <a:noAutofit/>
        </a:bodyPr>
        <a:lstStyle/>
        <a:p>
          <a:pPr marL="0" lvl="0" indent="0" algn="r" defTabSz="577850">
            <a:lnSpc>
              <a:spcPct val="90000"/>
            </a:lnSpc>
            <a:spcBef>
              <a:spcPct val="0"/>
            </a:spcBef>
            <a:spcAft>
              <a:spcPct val="35000"/>
            </a:spcAft>
            <a:buNone/>
          </a:pPr>
          <a:r>
            <a:rPr lang="en-US" sz="1300" kern="1200" dirty="0"/>
            <a:t>Backend development, database deployment, and core AI module integration.</a:t>
          </a:r>
        </a:p>
        <a:p>
          <a:pPr marL="0" lvl="0" indent="0" algn="r" defTabSz="577850">
            <a:lnSpc>
              <a:spcPct val="90000"/>
            </a:lnSpc>
            <a:spcBef>
              <a:spcPct val="0"/>
            </a:spcBef>
            <a:spcAft>
              <a:spcPct val="35000"/>
            </a:spcAft>
            <a:buNone/>
          </a:pPr>
          <a:endParaRPr lang="en-US" sz="1300" kern="1200" dirty="0">
            <a:latin typeface="Times New Roman" panose="02020603050405020304" pitchFamily="18" charset="0"/>
            <a:cs typeface="Times New Roman" panose="02020603050405020304" pitchFamily="18" charset="0"/>
          </a:endParaRPr>
        </a:p>
      </dsp:txBody>
      <dsp:txXfrm>
        <a:off x="4782502" y="811639"/>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9"/>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275" tIns="41275" rIns="41275" bIns="41275" numCol="1" spcCol="1270" anchor="t" anchorCtr="0">
          <a:noAutofit/>
        </a:bodyPr>
        <a:lstStyle/>
        <a:p>
          <a:pPr marL="0" lvl="0" indent="0" algn="r" defTabSz="577850">
            <a:lnSpc>
              <a:spcPct val="90000"/>
            </a:lnSpc>
            <a:spcBef>
              <a:spcPct val="0"/>
            </a:spcBef>
            <a:spcAft>
              <a:spcPct val="35000"/>
            </a:spcAft>
            <a:buNone/>
          </a:pPr>
          <a:r>
            <a:rPr lang="en-US" sz="1300" kern="1200" dirty="0"/>
            <a:t>Requirement analysis, system design approval, and frontend prototyping.</a:t>
          </a:r>
          <a:endParaRPr lang="en-US" sz="1300" kern="1200" dirty="0">
            <a:latin typeface="Times New Roman" panose="02020603050405020304" pitchFamily="18" charset="0"/>
            <a:cs typeface="Times New Roman" panose="02020603050405020304" pitchFamily="18" charset="0"/>
          </a:endParaRPr>
        </a:p>
      </dsp:txBody>
      <dsp:txXfrm>
        <a:off x="3504181" y="811639"/>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9"/>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275" tIns="41275" rIns="41275" bIns="41275" numCol="1" spcCol="1270" anchor="t" anchorCtr="0">
          <a:noAutofit/>
        </a:bodyPr>
        <a:lstStyle/>
        <a:p>
          <a:pPr marL="0" lvl="0" indent="0" algn="r" defTabSz="577850">
            <a:lnSpc>
              <a:spcPct val="90000"/>
            </a:lnSpc>
            <a:spcBef>
              <a:spcPct val="0"/>
            </a:spcBef>
            <a:spcAft>
              <a:spcPct val="35000"/>
            </a:spcAft>
            <a:buNone/>
          </a:pPr>
          <a:r>
            <a:rPr lang="en-US" sz="1300" kern="1200" dirty="0">
              <a:latin typeface="Times New Roman" panose="02020603050405020304" pitchFamily="18" charset="0"/>
              <a:cs typeface="Times New Roman" panose="02020603050405020304" pitchFamily="18" charset="0"/>
            </a:rPr>
            <a:t>Onboarding,</a:t>
          </a:r>
        </a:p>
        <a:p>
          <a:pPr marL="0" lvl="0" indent="0" algn="r" defTabSz="577850">
            <a:lnSpc>
              <a:spcPct val="90000"/>
            </a:lnSpc>
            <a:spcBef>
              <a:spcPct val="0"/>
            </a:spcBef>
            <a:spcAft>
              <a:spcPct val="35000"/>
            </a:spcAft>
            <a:buNone/>
          </a:pPr>
          <a:r>
            <a:rPr lang="en-US" sz="1300" kern="1200" dirty="0">
              <a:latin typeface="Times New Roman" panose="02020603050405020304" pitchFamily="18" charset="0"/>
              <a:cs typeface="Times New Roman" panose="02020603050405020304" pitchFamily="18" charset="0"/>
            </a:rPr>
            <a:t>role and responsibility discussion and  project planning.</a:t>
          </a:r>
        </a:p>
      </dsp:txBody>
      <dsp:txXfrm>
        <a:off x="2225860" y="811639"/>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02/04/2026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02-04-2026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02-04-2026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02-04-2026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02-04-2026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02-04-2026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02-04-2026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02-04-2026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02-04-2026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02-04-2026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02-04-2026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02-04-2026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02-04-2026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i.google.dev/" TargetMode="External"/><Relationship Id="rId2" Type="http://schemas.openxmlformats.org/officeDocument/2006/relationships/hyperlink" Target="https://docs.langchain.com/" TargetMode="External"/><Relationship Id="rId1" Type="http://schemas.openxmlformats.org/officeDocument/2006/relationships/slideLayout" Target="../slideLayouts/slideLayout2.xml"/><Relationship Id="rId5" Type="http://schemas.openxmlformats.org/officeDocument/2006/relationships/hyperlink" Target="https://react.dev/" TargetMode="External"/><Relationship Id="rId4" Type="http://schemas.openxmlformats.org/officeDocument/2006/relationships/hyperlink" Target="https://fastapi.tiangolo.com/" TargetMode="Externa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err="1">
                <a:solidFill>
                  <a:srgbClr val="17365D"/>
                </a:solidFill>
                <a:latin typeface="Cambria" panose="02040503050406030204" pitchFamily="18" charset="0"/>
                <a:ea typeface="Cambria" panose="02040503050406030204" pitchFamily="18" charset="0"/>
                <a:cs typeface="Verdana"/>
                <a:sym typeface="Verdana"/>
              </a:rPr>
              <a:t>Saptarsi</a:t>
            </a:r>
            <a:r>
              <a:rPr lang="en-GB" sz="1700" b="1" dirty="0">
                <a:solidFill>
                  <a:srgbClr val="17365D"/>
                </a:solidFill>
                <a:latin typeface="Cambria" panose="02040503050406030204" pitchFamily="18" charset="0"/>
                <a:ea typeface="Cambria" panose="02040503050406030204" pitchFamily="18" charset="0"/>
                <a:cs typeface="Verdana"/>
                <a:sym typeface="Verdana"/>
              </a:rPr>
              <a:t> Sanyal</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2" y="4130278"/>
            <a:ext cx="11883258"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CSE7302 - INTERNSHIP</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Dr. Pallavi R</a:t>
            </a: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solidFill>
                  <a:schemeClr val="accent1"/>
                </a:solidFill>
                <a:latin typeface="Cambria" panose="02040503050406030204" pitchFamily="18" charset="0"/>
                <a:ea typeface="Cambria" panose="02040503050406030204" pitchFamily="18" charset="0"/>
                <a:cs typeface="Verdana"/>
                <a:sym typeface="Verdana"/>
              </a:rPr>
              <a:t>Mr.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Saptarsi</a:t>
            </a:r>
            <a:r>
              <a:rPr lang="en-US" sz="2000" b="1" dirty="0">
                <a:solidFill>
                  <a:schemeClr val="accent1"/>
                </a:solidFill>
                <a:latin typeface="Cambria" panose="02040503050406030204" pitchFamily="18" charset="0"/>
                <a:ea typeface="Cambria" panose="02040503050406030204" pitchFamily="18" charset="0"/>
                <a:cs typeface="Verdana"/>
                <a:sym typeface="Verdana"/>
              </a:rPr>
              <a:t> Sanyal</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Review-2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AI SOLUTIONS INTERN</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217017777"/>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Ratish Gurav</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20221CSG0004</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8CSG-01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27591-4F0C-B280-30FC-6FD5A7F57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5A51F-9BCF-7E53-FEBA-948013FC345A}"/>
              </a:ext>
            </a:extLst>
          </p:cNvPr>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a:extLst>
              <a:ext uri="{FF2B5EF4-FFF2-40B4-BE49-F238E27FC236}">
                <a16:creationId xmlns:a16="http://schemas.microsoft.com/office/drawing/2014/main" id="{D3EA6711-A3F7-F598-AC39-43F68B16DC2C}"/>
              </a:ext>
            </a:extLst>
          </p:cNvPr>
          <p:cNvSpPr>
            <a:spLocks noGrp="1"/>
          </p:cNvSpPr>
          <p:nvPr>
            <p:ph idx="1"/>
          </p:nvPr>
        </p:nvSpPr>
        <p:spPr>
          <a:xfrm>
            <a:off x="838200" y="1045031"/>
            <a:ext cx="10515600" cy="4193176"/>
          </a:xfrm>
        </p:spPr>
        <p:txBody>
          <a:bodyPr/>
          <a:lstStyle/>
          <a:p>
            <a:r>
              <a:rPr lang="en-US" b="1" dirty="0" err="1"/>
              <a:t>Raghuraj</a:t>
            </a:r>
            <a:r>
              <a:rPr lang="en-US" b="1" dirty="0"/>
              <a:t> </a:t>
            </a:r>
            <a:r>
              <a:rPr lang="en-US" dirty="0"/>
              <a:t>is an eco-conscious company focused on providing sustainable energy products and infrastructure. Their stated mission is to create a cleaner, more sustainable environment by helping customers adopt </a:t>
            </a:r>
            <a:r>
              <a:rPr lang="en-US" b="1" dirty="0"/>
              <a:t>economical and eco-friendly </a:t>
            </a:r>
            <a:r>
              <a:rPr lang="en-US" dirty="0"/>
              <a:t>lifestyles. </a:t>
            </a:r>
          </a:p>
          <a:p>
            <a:r>
              <a:rPr lang="en-US" dirty="0"/>
              <a:t>They specialize in the sale and installation of various green technology and utility systems.</a:t>
            </a:r>
          </a:p>
          <a:p>
            <a:r>
              <a:rPr lang="en-US" dirty="0"/>
              <a:t>The company is based in </a:t>
            </a:r>
            <a:r>
              <a:rPr lang="en-US" b="1" dirty="0"/>
              <a:t>Goa</a:t>
            </a:r>
            <a:r>
              <a:rPr lang="en-US" dirty="0"/>
              <a:t>, India but operates in </a:t>
            </a:r>
            <a:r>
              <a:rPr lang="en-US" b="1" dirty="0"/>
              <a:t>Mumbai</a:t>
            </a:r>
            <a:r>
              <a:rPr lang="en-US" dirty="0"/>
              <a:t> as well. They specialize in the sale and installation of various green technology and utility systems.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A3AFFA6-7D25-698C-04DF-0B793C790EE9}"/>
              </a:ext>
            </a:extLst>
          </p:cNvPr>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2582242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normAutofit fontScale="92500" lnSpcReduction="20000"/>
          </a:bodyPr>
          <a:lstStyle/>
          <a:p>
            <a:r>
              <a:rPr lang="en-IN" b="1" dirty="0"/>
              <a:t>Products :</a:t>
            </a:r>
          </a:p>
          <a:p>
            <a:pPr marL="0" indent="0">
              <a:buNone/>
            </a:pPr>
            <a:r>
              <a:rPr lang="en-US" dirty="0"/>
              <a:t>The company provides installation and support services for many products, as well as other electrical services.</a:t>
            </a:r>
          </a:p>
          <a:p>
            <a:r>
              <a:rPr lang="en-IN" dirty="0"/>
              <a:t>Solar Panels </a:t>
            </a:r>
          </a:p>
          <a:p>
            <a:r>
              <a:rPr lang="en-IN" dirty="0"/>
              <a:t>Mini Wind Turbines </a:t>
            </a:r>
          </a:p>
          <a:p>
            <a:r>
              <a:rPr lang="en-IN" dirty="0"/>
              <a:t>EV Charging</a:t>
            </a:r>
          </a:p>
          <a:p>
            <a:r>
              <a:rPr lang="en-IN" dirty="0"/>
              <a:t>Transformer Generator </a:t>
            </a:r>
          </a:p>
          <a:p>
            <a:r>
              <a:rPr lang="en-IN" dirty="0"/>
              <a:t>WTP, STP </a:t>
            </a:r>
          </a:p>
          <a:p>
            <a:r>
              <a:rPr lang="en-IN" dirty="0"/>
              <a:t>Swimming Pool </a:t>
            </a:r>
          </a:p>
          <a:p>
            <a:r>
              <a:rPr lang="en-IN" dirty="0"/>
              <a:t>Heat Pump</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13F19-DEA1-20CF-A4B0-79723F61D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270CD-5230-B2E4-B9E4-F7AAFE418BFC}"/>
              </a:ext>
            </a:extLst>
          </p:cNvPr>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a:extLst>
              <a:ext uri="{FF2B5EF4-FFF2-40B4-BE49-F238E27FC236}">
                <a16:creationId xmlns:a16="http://schemas.microsoft.com/office/drawing/2014/main" id="{F6664E0F-AA75-0717-2BC2-CBE55F644378}"/>
              </a:ext>
            </a:extLst>
          </p:cNvPr>
          <p:cNvSpPr>
            <a:spLocks noGrp="1"/>
          </p:cNvSpPr>
          <p:nvPr>
            <p:ph idx="1"/>
          </p:nvPr>
        </p:nvSpPr>
        <p:spPr>
          <a:xfrm>
            <a:off x="838200" y="1045031"/>
            <a:ext cx="10515600" cy="4193176"/>
          </a:xfrm>
        </p:spPr>
        <p:txBody>
          <a:bodyPr>
            <a:normAutofit fontScale="92500" lnSpcReduction="20000"/>
          </a:bodyPr>
          <a:lstStyle/>
          <a:p>
            <a:r>
              <a:rPr lang="en-IN" b="1" dirty="0"/>
              <a:t>Clients :</a:t>
            </a:r>
          </a:p>
          <a:p>
            <a:pPr marL="0" indent="0">
              <a:buNone/>
            </a:pPr>
            <a:r>
              <a:rPr lang="en-IN" dirty="0"/>
              <a:t>The company boasts a heavy client list of residential and commercial builders, hotels etc. from Mumbai as well as Goa.</a:t>
            </a:r>
          </a:p>
          <a:p>
            <a:r>
              <a:rPr lang="en-IN" dirty="0"/>
              <a:t>Hotel La Calypso, Hotel IVY, Hotel Ramada - Goa </a:t>
            </a:r>
          </a:p>
          <a:p>
            <a:r>
              <a:rPr lang="en-IN" dirty="0"/>
              <a:t>IKON INDUSTRIES – Mumbai</a:t>
            </a:r>
          </a:p>
          <a:p>
            <a:r>
              <a:rPr lang="en-IN" dirty="0"/>
              <a:t>DLH Lok Mitra – Goregaon, Mumbai</a:t>
            </a:r>
          </a:p>
          <a:p>
            <a:r>
              <a:rPr lang="en-IN" dirty="0" err="1"/>
              <a:t>Aadhvay</a:t>
            </a:r>
            <a:r>
              <a:rPr lang="en-IN" dirty="0"/>
              <a:t> Realtors - Goa</a:t>
            </a:r>
          </a:p>
          <a:p>
            <a:r>
              <a:rPr lang="en-IN" dirty="0" err="1"/>
              <a:t>Aadhvay</a:t>
            </a:r>
            <a:r>
              <a:rPr lang="en-IN" dirty="0"/>
              <a:t> Ventures - Goa</a:t>
            </a:r>
          </a:p>
          <a:p>
            <a:r>
              <a:rPr lang="en-IN" dirty="0"/>
              <a:t>Dynamic Crest - Thane</a:t>
            </a:r>
          </a:p>
          <a:p>
            <a:r>
              <a:rPr lang="en-IN" dirty="0"/>
              <a:t>HELICON HEIGHTS CHS. LTD. - Mumbai</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2BDBBCB-98F5-AE81-6B71-41C278B6E55C}"/>
              </a:ext>
            </a:extLst>
          </p:cNvPr>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67466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dirty="0"/>
              <a:t>I will be designated as an AI Solutions Intern and will be working directly with the technical team.</a:t>
            </a:r>
          </a:p>
          <a:p>
            <a:r>
              <a:rPr lang="en-US" dirty="0"/>
              <a:t>Scope of work includes developing an AI-driven chatbot capable of answering technical queries about our products (e.g., Solar efficiency, EV compatibility), automating initial customer consultations, and providing instant support for installation services using Generative AI and LLMs.</a:t>
            </a:r>
          </a:p>
          <a:p>
            <a:r>
              <a:rPr lang="en-US" dirty="0">
                <a:latin typeface="Times New Roman" panose="02020603050405020304" pitchFamily="18" charset="0"/>
                <a:cs typeface="Times New Roman" panose="02020603050405020304" pitchFamily="18" charset="0"/>
              </a:rPr>
              <a:t>Also, other technical consultation for developing website and creating an online presence for the company.</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IN" dirty="0">
                <a:latin typeface="Times New Roman" panose="02020603050405020304" pitchFamily="18" charset="0"/>
                <a:cs typeface="Times New Roman" panose="02020603050405020304" pitchFamily="18" charset="0"/>
              </a:rPr>
              <a:t>Intern development team, reporting to Project manager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7"/>
            <a:ext cx="10515600" cy="4058194"/>
          </a:xfrm>
        </p:spPr>
        <p:txBody>
          <a:bodyPr/>
          <a:lstStyle/>
          <a:p>
            <a:r>
              <a:rPr lang="en-US" dirty="0"/>
              <a:t>There were limited internship opportunities available in my specific field of interest, which made securing a relevant placement challenging within the given timeframe.</a:t>
            </a:r>
          </a:p>
          <a:p>
            <a:r>
              <a:rPr lang="en-US" dirty="0"/>
              <a:t>Since the role involves 'leading the implementation' of a new system,  I had to go beyond coding questions and explain how the AI would practically automate consultations and reduce the workload for the sales team.</a:t>
            </a:r>
          </a:p>
          <a:p>
            <a:r>
              <a:rPr lang="en-IN" dirty="0">
                <a:latin typeface="Times New Roman" panose="02020603050405020304" pitchFamily="18" charset="0"/>
                <a:cs typeface="Times New Roman" panose="02020603050405020304" pitchFamily="18" charset="0"/>
              </a:rPr>
              <a:t>Getting adjusted to the team was not much of a challenge as I have already worked with them on other different projects.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lstStyle/>
          <a:p>
            <a:r>
              <a:rPr lang="en-US" dirty="0"/>
              <a:t>To establish a comprehensive digital identity for </a:t>
            </a:r>
            <a:r>
              <a:rPr lang="en-US" b="1" dirty="0" err="1"/>
              <a:t>Raghuraj</a:t>
            </a:r>
            <a:r>
              <a:rPr lang="en-US" dirty="0"/>
              <a:t>, enabling the company to expand its market reach and streamline customer interactions through a modern web platform and other relevant social platforms.</a:t>
            </a:r>
          </a:p>
          <a:p>
            <a:r>
              <a:rPr lang="en-US" dirty="0"/>
              <a:t> And gain experience of building software solutions from the foundation to the deployment.</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
        <p:nvSpPr>
          <p:cNvPr id="5" name="Rectangle 1">
            <a:extLst>
              <a:ext uri="{FF2B5EF4-FFF2-40B4-BE49-F238E27FC236}">
                <a16:creationId xmlns:a16="http://schemas.microsoft.com/office/drawing/2014/main" id="{7EA2CDBB-3989-B77E-7A40-2B8F19CB3BAD}"/>
              </a:ext>
            </a:extLst>
          </p:cNvPr>
          <p:cNvSpPr>
            <a:spLocks noGrp="1" noChangeArrowheads="1"/>
          </p:cNvSpPr>
          <p:nvPr>
            <p:ph idx="1"/>
          </p:nvPr>
        </p:nvSpPr>
        <p:spPr bwMode="auto">
          <a:xfrm>
            <a:off x="824753" y="1012954"/>
            <a:ext cx="10515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Legacy Systems:</a:t>
            </a:r>
            <a:r>
              <a:rPr kumimoji="0" lang="en-US" altLang="en-US" b="0" i="0" u="none" strike="noStrike" cap="none" normalizeH="0" baseline="0" dirty="0">
                <a:ln>
                  <a:noFill/>
                </a:ln>
                <a:solidFill>
                  <a:schemeClr val="tx1"/>
                </a:solidFill>
                <a:effectLst/>
              </a:rPr>
              <a:t> Traditional rule-based chatbots failed to handle complex, non-scripted queries.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GenAI &amp; RAG:</a:t>
            </a:r>
            <a:r>
              <a:rPr kumimoji="0" lang="en-US" altLang="en-US" b="0" i="0" u="none" strike="noStrike" cap="none" normalizeH="0" baseline="0" dirty="0">
                <a:ln>
                  <a:noFill/>
                </a:ln>
                <a:solidFill>
                  <a:schemeClr val="tx1"/>
                </a:solidFill>
                <a:effectLst/>
              </a:rPr>
              <a:t> Modern approaches use Large Language Models (LLMs) combined with </a:t>
            </a:r>
            <a:r>
              <a:rPr kumimoji="0" lang="en-US" altLang="en-US" b="1" i="0" u="none" strike="noStrike" cap="none" normalizeH="0" baseline="0" dirty="0">
                <a:ln>
                  <a:noFill/>
                </a:ln>
                <a:solidFill>
                  <a:schemeClr val="tx1"/>
                </a:solidFill>
                <a:effectLst/>
              </a:rPr>
              <a:t>Retrieval-Augmented Generation (RAG)</a:t>
            </a:r>
            <a:r>
              <a:rPr kumimoji="0" lang="en-US" altLang="en-US" b="0" i="0" u="none" strike="noStrike" cap="none" normalizeH="0" baseline="0" dirty="0">
                <a:ln>
                  <a:noFill/>
                </a:ln>
                <a:solidFill>
                  <a:schemeClr val="tx1"/>
                </a:solidFill>
                <a:effectLst/>
              </a:rPr>
              <a:t>. This allows AI to fetch accurate answers from private company manuals rather than guessing.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Web Tech:</a:t>
            </a:r>
            <a:r>
              <a:rPr kumimoji="0" lang="en-US" altLang="en-US" b="0" i="0" u="none" strike="noStrike" cap="none" normalizeH="0" baseline="0" dirty="0">
                <a:ln>
                  <a:noFill/>
                </a:ln>
                <a:solidFill>
                  <a:schemeClr val="tx1"/>
                </a:solidFill>
                <a:effectLst/>
              </a:rPr>
              <a:t> Research confirms </a:t>
            </a:r>
            <a:r>
              <a:rPr kumimoji="0" lang="en-US" altLang="en-US" b="1" i="0" u="none" strike="noStrike" cap="none" normalizeH="0" baseline="0" dirty="0">
                <a:ln>
                  <a:noFill/>
                </a:ln>
                <a:solidFill>
                  <a:schemeClr val="tx1"/>
                </a:solidFill>
                <a:effectLst/>
              </a:rPr>
              <a:t>React.js</a:t>
            </a:r>
            <a:r>
              <a:rPr kumimoji="0" lang="en-US" altLang="en-US" b="0" i="0" u="none" strike="noStrike" cap="none" normalizeH="0" baseline="0" dirty="0">
                <a:ln>
                  <a:noFill/>
                </a:ln>
                <a:solidFill>
                  <a:schemeClr val="tx1"/>
                </a:solidFill>
                <a:effectLst/>
              </a:rPr>
              <a:t> (Single Page Applications) improves user retention by eliminating page reloads, essential for maintaining active chat sessions.</a:t>
            </a:r>
          </a:p>
        </p:txBody>
      </p:sp>
    </p:spTree>
    <p:extLst>
      <p:ext uri="{BB962C8B-B14F-4D97-AF65-F5344CB8AC3E}">
        <p14:creationId xmlns:p14="http://schemas.microsoft.com/office/powerpoint/2010/main" val="3129921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lstStyle/>
          <a:p>
            <a:r>
              <a:rPr lang="en-US" b="1" dirty="0"/>
              <a:t>The Disconnect:</a:t>
            </a:r>
            <a:r>
              <a:rPr lang="en-US" dirty="0"/>
              <a:t> Sustainable energy products have complex technical specifications that confuse customers. "</a:t>
            </a:r>
            <a:r>
              <a:rPr lang="en-US" dirty="0" err="1"/>
              <a:t>Raghuraj</a:t>
            </a:r>
            <a:r>
              <a:rPr lang="en-US" dirty="0"/>
              <a:t>" currently relies on manual support, leading to slow response times and scalability issues during high traffic. </a:t>
            </a:r>
            <a:r>
              <a:rPr lang="en-US" b="1" dirty="0"/>
              <a:t>The Need:</a:t>
            </a:r>
            <a:r>
              <a:rPr lang="en-US" dirty="0"/>
              <a:t> A digital transformation is required to move from manual troubleshooting to an automated, instant, and accessible web-based AI solution.</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361142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184367"/>
            <a:ext cx="10515600" cy="4058194"/>
          </a:xfrm>
        </p:spPr>
        <p:txBody>
          <a:bodyPr/>
          <a:lstStyle/>
          <a:p>
            <a:r>
              <a:rPr lang="en-US" b="1" dirty="0"/>
              <a:t>Overview:</a:t>
            </a:r>
            <a:r>
              <a:rPr lang="en-US" dirty="0"/>
              <a:t> A unified React.js website acting as a product showcase and an automated support agent. </a:t>
            </a:r>
            <a:r>
              <a:rPr lang="en-US" b="1" dirty="0"/>
              <a:t>Workflow:</a:t>
            </a:r>
            <a:endParaRPr lang="en-US" dirty="0"/>
          </a:p>
          <a:p>
            <a:r>
              <a:rPr lang="en-US" b="1" dirty="0"/>
              <a:t>Frontend:</a:t>
            </a:r>
            <a:r>
              <a:rPr lang="en-US" dirty="0"/>
              <a:t> Built on </a:t>
            </a:r>
            <a:r>
              <a:rPr lang="en-US" b="1" dirty="0"/>
              <a:t>React.js</a:t>
            </a:r>
            <a:r>
              <a:rPr lang="en-US" dirty="0"/>
              <a:t> for a responsive, smooth user interface.</a:t>
            </a:r>
          </a:p>
          <a:p>
            <a:r>
              <a:rPr lang="en-US" b="1" dirty="0"/>
              <a:t>AI Engine:</a:t>
            </a:r>
            <a:r>
              <a:rPr lang="en-US" dirty="0"/>
              <a:t> A </a:t>
            </a:r>
            <a:r>
              <a:rPr lang="en-US" b="1" dirty="0" err="1"/>
              <a:t>FastAPI</a:t>
            </a:r>
            <a:r>
              <a:rPr lang="en-US" dirty="0"/>
              <a:t> backend captures queries, searches internal PDF manuals (Vector Search), and uses </a:t>
            </a:r>
            <a:r>
              <a:rPr lang="en-US" b="1" dirty="0"/>
              <a:t>Gemini API</a:t>
            </a:r>
            <a:r>
              <a:rPr lang="en-US" dirty="0"/>
              <a:t> to generate accurate answers.</a:t>
            </a:r>
          </a:p>
          <a:p>
            <a:r>
              <a:rPr lang="en-US" b="1" dirty="0"/>
              <a:t>Integration:</a:t>
            </a:r>
            <a:r>
              <a:rPr lang="en-US" dirty="0"/>
              <a:t> The chatbot floats globally across the site, preserving conversation context while the user browses products.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2255950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058194"/>
          </a:xfrm>
        </p:spPr>
        <p:txBody>
          <a:bodyPr>
            <a:noAutofit/>
          </a:bodyPr>
          <a:lstStyle/>
          <a:p>
            <a:r>
              <a:rPr lang="en-IN" b="1" dirty="0"/>
              <a:t>Hardware:</a:t>
            </a:r>
            <a:endParaRPr lang="en-IN" dirty="0"/>
          </a:p>
          <a:p>
            <a:r>
              <a:rPr lang="en-IN" b="1" dirty="0"/>
              <a:t>CPU:</a:t>
            </a:r>
            <a:r>
              <a:rPr lang="en-IN" dirty="0"/>
              <a:t> Intel Core i5 / </a:t>
            </a:r>
            <a:r>
              <a:rPr lang="en-IN" dirty="0" err="1"/>
              <a:t>Ryzen</a:t>
            </a:r>
            <a:r>
              <a:rPr lang="en-IN" dirty="0"/>
              <a:t> 5 or better.</a:t>
            </a:r>
          </a:p>
          <a:p>
            <a:r>
              <a:rPr lang="en-IN" b="1" dirty="0"/>
              <a:t>RAM:</a:t>
            </a:r>
            <a:r>
              <a:rPr lang="en-IN" dirty="0"/>
              <a:t> 16GB (for local testing).</a:t>
            </a:r>
          </a:p>
          <a:p>
            <a:r>
              <a:rPr lang="en-IN" b="1" dirty="0"/>
              <a:t>Internet:</a:t>
            </a:r>
            <a:r>
              <a:rPr lang="en-IN" dirty="0"/>
              <a:t> High-speed connection for API latency.</a:t>
            </a:r>
          </a:p>
          <a:p>
            <a:endParaRPr lang="en-IN" dirty="0"/>
          </a:p>
          <a:p>
            <a:r>
              <a:rPr lang="en-IN" b="1" dirty="0"/>
              <a:t>Software:</a:t>
            </a:r>
            <a:endParaRPr lang="en-IN" dirty="0"/>
          </a:p>
          <a:p>
            <a:r>
              <a:rPr lang="en-IN" b="1" dirty="0"/>
              <a:t>Frontend:</a:t>
            </a:r>
            <a:r>
              <a:rPr lang="en-IN" dirty="0"/>
              <a:t> React.js, Tailwind CSS, Node.js.</a:t>
            </a:r>
          </a:p>
          <a:p>
            <a:r>
              <a:rPr lang="en-IN" b="1" dirty="0"/>
              <a:t>Backend:</a:t>
            </a:r>
            <a:r>
              <a:rPr lang="en-IN" dirty="0"/>
              <a:t> Python (</a:t>
            </a:r>
            <a:r>
              <a:rPr lang="en-IN" dirty="0" err="1"/>
              <a:t>FastAPI</a:t>
            </a:r>
            <a:r>
              <a:rPr lang="en-IN" dirty="0"/>
              <a:t>), PostgreSQL.</a:t>
            </a:r>
          </a:p>
          <a:p>
            <a:r>
              <a:rPr lang="en-IN" b="1" dirty="0"/>
              <a:t>AI:</a:t>
            </a:r>
            <a:r>
              <a:rPr lang="en-IN" dirty="0"/>
              <a:t> Google Gemini API, </a:t>
            </a:r>
            <a:r>
              <a:rPr lang="en-IN" dirty="0" err="1"/>
              <a:t>LangChain</a:t>
            </a:r>
            <a:r>
              <a:rPr lang="en-IN" dirty="0"/>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1840268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
        <p:nvSpPr>
          <p:cNvPr id="5" name="Rectangle 1">
            <a:extLst>
              <a:ext uri="{FF2B5EF4-FFF2-40B4-BE49-F238E27FC236}">
                <a16:creationId xmlns:a16="http://schemas.microsoft.com/office/drawing/2014/main" id="{A68F2648-A04A-08BF-EC4B-CAADB6E9D56D}"/>
              </a:ext>
            </a:extLst>
          </p:cNvPr>
          <p:cNvSpPr>
            <a:spLocks noGrp="1" noChangeArrowheads="1"/>
          </p:cNvSpPr>
          <p:nvPr>
            <p:ph idx="1"/>
          </p:nvPr>
        </p:nvSpPr>
        <p:spPr bwMode="auto">
          <a:xfrm>
            <a:off x="838200" y="1012954"/>
            <a:ext cx="10515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24/7 Availability:</a:t>
            </a:r>
            <a:r>
              <a:rPr kumimoji="0" lang="en-US" altLang="en-US" b="0" i="0" u="none" strike="noStrike" cap="none" normalizeH="0" baseline="0" dirty="0">
                <a:ln>
                  <a:noFill/>
                </a:ln>
                <a:solidFill>
                  <a:schemeClr val="tx1"/>
                </a:solidFill>
                <a:effectLst/>
              </a:rPr>
              <a:t> Instant technical support regardless of business hours.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Scalability:</a:t>
            </a:r>
            <a:r>
              <a:rPr kumimoji="0" lang="en-US" altLang="en-US" b="0" i="0" u="none" strike="noStrike" cap="none" normalizeH="0" baseline="0" dirty="0">
                <a:ln>
                  <a:noFill/>
                </a:ln>
                <a:solidFill>
                  <a:schemeClr val="tx1"/>
                </a:solidFill>
                <a:effectLst/>
              </a:rPr>
              <a:t> Handles thousands of concurrent queries without extra hiring costs.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Accuracy:</a:t>
            </a:r>
            <a:r>
              <a:rPr kumimoji="0" lang="en-US" altLang="en-US" b="0" i="0" u="none" strike="noStrike" cap="none" normalizeH="0" baseline="0" dirty="0">
                <a:ln>
                  <a:noFill/>
                </a:ln>
                <a:solidFill>
                  <a:schemeClr val="tx1"/>
                </a:solidFill>
                <a:effectLst/>
              </a:rPr>
              <a:t> RAG implementation ensures answers come strictly from official manuals, not AI hallucinations.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Enhanced UX:</a:t>
            </a:r>
            <a:r>
              <a:rPr kumimoji="0" lang="en-US" altLang="en-US" b="0" i="0" u="none" strike="noStrike" cap="none" normalizeH="0" baseline="0" dirty="0">
                <a:ln>
                  <a:noFill/>
                </a:ln>
                <a:solidFill>
                  <a:schemeClr val="tx1"/>
                </a:solidFill>
                <a:effectLst/>
              </a:rPr>
              <a:t> React.js ensures a fast, app-like browsing experience without page reloads.</a:t>
            </a:r>
          </a:p>
        </p:txBody>
      </p:sp>
    </p:spTree>
    <p:extLst>
      <p:ext uri="{BB962C8B-B14F-4D97-AF65-F5344CB8AC3E}">
        <p14:creationId xmlns:p14="http://schemas.microsoft.com/office/powerpoint/2010/main" val="2499704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
        <p:nvSpPr>
          <p:cNvPr id="5" name="Rectangle 1">
            <a:extLst>
              <a:ext uri="{FF2B5EF4-FFF2-40B4-BE49-F238E27FC236}">
                <a16:creationId xmlns:a16="http://schemas.microsoft.com/office/drawing/2014/main" id="{8E5FFA7E-AADD-9FDF-A972-4C69CD5DBF7E}"/>
              </a:ext>
            </a:extLst>
          </p:cNvPr>
          <p:cNvSpPr>
            <a:spLocks noGrp="1" noChangeArrowheads="1"/>
          </p:cNvSpPr>
          <p:nvPr>
            <p:ph idx="1"/>
          </p:nvPr>
        </p:nvSpPr>
        <p:spPr bwMode="auto">
          <a:xfrm>
            <a:off x="702406" y="1184366"/>
            <a:ext cx="1078718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Frontend (Client Layer):</a:t>
            </a:r>
            <a:r>
              <a:rPr kumimoji="0" lang="en-US" altLang="en-US" sz="1800" b="0" i="0" u="none" strike="noStrike" cap="none" normalizeH="0" baseline="0" dirty="0">
                <a:ln>
                  <a:noFill/>
                </a:ln>
                <a:solidFill>
                  <a:schemeClr val="tx1"/>
                </a:solidFill>
                <a:effectLst/>
                <a:latin typeface="Arial" panose="020B0604020202020204" pitchFamily="34" charset="0"/>
              </a:rPr>
              <a:t> A React.js Single Page Application (SPA) featuring a responsive product </a:t>
            </a: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catalog and a persistent, floating AI chat interface.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Backend (API Layer):</a:t>
            </a:r>
            <a:r>
              <a:rPr kumimoji="0" lang="en-US" altLang="en-US" sz="1800" b="0" i="0" u="none" strike="noStrike" cap="none" normalizeH="0" baseline="0" dirty="0">
                <a:ln>
                  <a:noFill/>
                </a:ln>
                <a:solidFill>
                  <a:schemeClr val="tx1"/>
                </a:solidFill>
                <a:effectLst/>
                <a:latin typeface="Arial" panose="020B0604020202020204" pitchFamily="34" charset="0"/>
              </a:rPr>
              <a:t> A Python-based </a:t>
            </a:r>
            <a:r>
              <a:rPr kumimoji="0" lang="en-US" altLang="en-US" sz="1800" b="0" i="0" u="none" strike="noStrike" cap="none" normalizeH="0" baseline="0" dirty="0" err="1">
                <a:ln>
                  <a:noFill/>
                </a:ln>
                <a:solidFill>
                  <a:schemeClr val="tx1"/>
                </a:solidFill>
                <a:effectLst/>
                <a:latin typeface="Arial" panose="020B0604020202020204" pitchFamily="34" charset="0"/>
              </a:rPr>
              <a:t>FastAPI</a:t>
            </a:r>
            <a:r>
              <a:rPr kumimoji="0" lang="en-US" altLang="en-US" sz="1800" b="0" i="0" u="none" strike="noStrike" cap="none" normalizeH="0" baseline="0" dirty="0">
                <a:ln>
                  <a:noFill/>
                </a:ln>
                <a:solidFill>
                  <a:schemeClr val="tx1"/>
                </a:solidFill>
                <a:effectLst/>
                <a:latin typeface="Arial" panose="020B0604020202020204" pitchFamily="34" charset="0"/>
              </a:rPr>
              <a:t> server to handle asynchronous client requests,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manage user sessions, and securely route data between the user and the AI.</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Engine (Logic Layer):</a:t>
            </a:r>
            <a:r>
              <a:rPr kumimoji="0" lang="en-US" altLang="en-US" sz="1800" b="0" i="0" u="none" strike="noStrike" cap="none" normalizeH="0" baseline="0" dirty="0">
                <a:ln>
                  <a:noFill/>
                </a:ln>
                <a:solidFill>
                  <a:schemeClr val="tx1"/>
                </a:solidFill>
                <a:effectLst/>
                <a:latin typeface="Arial" panose="020B0604020202020204" pitchFamily="34" charset="0"/>
              </a:rPr>
              <a:t> A Retrieval-Augmented Generation (RAG) pipeline. It will use a vector search to scan internal company manuals for relevant technical data and feed that context to the Gemini API to generate highly accurate answers.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Database (Storage Layer):</a:t>
            </a:r>
            <a:r>
              <a:rPr kumimoji="0" lang="en-US" altLang="en-US" sz="1800" b="0" i="0" u="none" strike="noStrike" cap="none" normalizeH="0" baseline="0" dirty="0">
                <a:ln>
                  <a:noFill/>
                </a:ln>
                <a:solidFill>
                  <a:schemeClr val="tx1"/>
                </a:solidFill>
                <a:effectLst/>
                <a:latin typeface="Arial" panose="020B0604020202020204" pitchFamily="34" charset="0"/>
              </a:rPr>
              <a:t> A dual-database setup using PostgreSQL for structured product data and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chat logs, alongside a Vector Database (like Pinecone or </a:t>
            </a:r>
            <a:r>
              <a:rPr kumimoji="0" lang="en-US" altLang="en-US" sz="1800" b="0" i="0" u="none" strike="noStrike" cap="none" normalizeH="0" baseline="0" dirty="0" err="1">
                <a:ln>
                  <a:noFill/>
                </a:ln>
                <a:solidFill>
                  <a:schemeClr val="tx1"/>
                </a:solidFill>
                <a:effectLst/>
                <a:latin typeface="Arial" panose="020B0604020202020204" pitchFamily="34" charset="0"/>
              </a:rPr>
              <a:t>ChromaDB</a:t>
            </a:r>
            <a:r>
              <a:rPr kumimoji="0" lang="en-US" altLang="en-US" sz="1800" b="0" i="0" u="none" strike="noStrike" cap="none" normalizeH="0" baseline="0" dirty="0">
                <a:ln>
                  <a:noFill/>
                </a:ln>
                <a:solidFill>
                  <a:schemeClr val="tx1"/>
                </a:solidFill>
                <a:effectLst/>
                <a:latin typeface="Arial" panose="020B0604020202020204" pitchFamily="34" charset="0"/>
              </a:rPr>
              <a:t>) for storing the document embeddings.</a:t>
            </a:r>
          </a:p>
        </p:txBody>
      </p:sp>
    </p:spTree>
    <p:extLst>
      <p:ext uri="{BB962C8B-B14F-4D97-AF65-F5344CB8AC3E}">
        <p14:creationId xmlns:p14="http://schemas.microsoft.com/office/powerpoint/2010/main" val="590093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 (At least 50%)</a:t>
            </a:r>
          </a:p>
        </p:txBody>
      </p:sp>
      <p:sp>
        <p:nvSpPr>
          <p:cNvPr id="3" name="Content Placeholder 2"/>
          <p:cNvSpPr>
            <a:spLocks noGrp="1"/>
          </p:cNvSpPr>
          <p:nvPr>
            <p:ph idx="1"/>
          </p:nvPr>
        </p:nvSpPr>
        <p:spPr>
          <a:xfrm>
            <a:off x="838200" y="1184367"/>
            <a:ext cx="10515600" cy="4058194"/>
          </a:xfrm>
        </p:spPr>
        <p:txBody>
          <a:bodyPr>
            <a:noAutofit/>
          </a:bodyPr>
          <a:lstStyle/>
          <a:p>
            <a:r>
              <a:rPr lang="en-US" sz="1400" b="1" dirty="0"/>
              <a:t>* Confidentiality Notice:</a:t>
            </a:r>
            <a:r>
              <a:rPr lang="en-US" sz="1400" dirty="0"/>
              <a:t> In compliance with company Non-Disclosure Agreements (NDA), proprietary source code, internal client data, and custom AI logic are omitted. The following outlines the high-level technical execution and architectural progress. *</a:t>
            </a:r>
          </a:p>
          <a:p>
            <a:pPr marL="0" indent="0">
              <a:buNone/>
            </a:pPr>
            <a:r>
              <a:rPr lang="en-US" sz="1400" b="1" dirty="0"/>
              <a:t>Current Implementation Progress:</a:t>
            </a:r>
            <a:endParaRPr lang="en-US" sz="1400" dirty="0"/>
          </a:p>
          <a:p>
            <a:r>
              <a:rPr lang="en-US" sz="1400" b="1" dirty="0"/>
              <a:t>Frontend Development (React.js):</a:t>
            </a:r>
            <a:endParaRPr lang="en-US" sz="1400" dirty="0"/>
          </a:p>
          <a:p>
            <a:pPr lvl="1"/>
            <a:r>
              <a:rPr lang="en-US" sz="1400" dirty="0"/>
              <a:t>Initialized the core Single Page Application (SPA) architecture and routing.</a:t>
            </a:r>
          </a:p>
          <a:p>
            <a:pPr lvl="1"/>
            <a:r>
              <a:rPr lang="en-US" sz="1400" dirty="0"/>
              <a:t>Implemented responsive UI components for the product catalog using Tailwind CSS.</a:t>
            </a:r>
          </a:p>
          <a:p>
            <a:pPr lvl="1"/>
            <a:r>
              <a:rPr lang="en-US" sz="1400" dirty="0"/>
              <a:t>Developed the foundational interface for the floating chatbot widget, including local state management for chat sessions.</a:t>
            </a:r>
          </a:p>
          <a:p>
            <a:r>
              <a:rPr lang="en-US" sz="1400" b="1" dirty="0"/>
              <a:t>Backend Engineering (Python/</a:t>
            </a:r>
            <a:r>
              <a:rPr lang="en-US" sz="1400" b="1" dirty="0" err="1"/>
              <a:t>FastAPI</a:t>
            </a:r>
            <a:r>
              <a:rPr lang="en-US" sz="1400" b="1" dirty="0"/>
              <a:t>):</a:t>
            </a:r>
            <a:endParaRPr lang="en-US" sz="1400" dirty="0"/>
          </a:p>
          <a:p>
            <a:pPr lvl="1"/>
            <a:r>
              <a:rPr lang="en-US" sz="1400" dirty="0"/>
              <a:t>Established the primary server environment and configured asynchronous RESTful API routes.</a:t>
            </a:r>
          </a:p>
          <a:p>
            <a:pPr lvl="1"/>
            <a:r>
              <a:rPr lang="en-US" sz="1400" dirty="0"/>
              <a:t>Created secure endpoints to receive user queries and handle client-server data transfer.</a:t>
            </a:r>
          </a:p>
          <a:p>
            <a:r>
              <a:rPr lang="en-US" sz="1400" b="1" dirty="0"/>
              <a:t>Database Integration (PostgreSQL):</a:t>
            </a:r>
            <a:endParaRPr lang="en-US" sz="1400" dirty="0"/>
          </a:p>
          <a:p>
            <a:pPr lvl="1"/>
            <a:r>
              <a:rPr lang="en-US" sz="1400" dirty="0"/>
              <a:t>Deployed the initial relational database schemas to manage product specifications and application logs.</a:t>
            </a:r>
          </a:p>
          <a:p>
            <a:r>
              <a:rPr lang="en-US" sz="1400" b="1" dirty="0"/>
              <a:t>AI &amp; RAG Pipeline Setup (Gemini API &amp; </a:t>
            </a:r>
            <a:r>
              <a:rPr lang="en-US" sz="1400" b="1" dirty="0" err="1"/>
              <a:t>LangChain</a:t>
            </a:r>
            <a:r>
              <a:rPr lang="en-US" sz="1400" b="1" dirty="0"/>
              <a:t>):</a:t>
            </a:r>
            <a:endParaRPr lang="en-US" sz="1400" dirty="0"/>
          </a:p>
          <a:p>
            <a:pPr lvl="1"/>
            <a:r>
              <a:rPr lang="en-US" sz="1400" dirty="0"/>
              <a:t>Configured the baseline API integration for Large Language Model processing.</a:t>
            </a:r>
          </a:p>
          <a:p>
            <a:pPr lvl="1"/>
            <a:r>
              <a:rPr lang="en-US" sz="1400" dirty="0"/>
              <a:t>Drafted the document-loading pipeline to parse sample technical PDFs into processable text chunks.</a:t>
            </a:r>
          </a:p>
          <a:p>
            <a:pPr lvl="1"/>
            <a:r>
              <a:rPr lang="en-US" sz="1400" dirty="0"/>
              <a:t>Initialized the Vector Database environment for future text embedding and retrieval.</a:t>
            </a:r>
          </a:p>
          <a:p>
            <a:pPr marL="0" indent="0">
              <a:buNone/>
            </a:pPr>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318373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p:txBody>
      </p:sp>
      <p:sp>
        <p:nvSpPr>
          <p:cNvPr id="3" name="Content Placeholder 2"/>
          <p:cNvSpPr>
            <a:spLocks noGrp="1"/>
          </p:cNvSpPr>
          <p:nvPr>
            <p:ph idx="1"/>
          </p:nvPr>
        </p:nvSpPr>
        <p:spPr>
          <a:xfrm>
            <a:off x="838200" y="1184367"/>
            <a:ext cx="10515600" cy="4058194"/>
          </a:xfrm>
        </p:spPr>
        <p:txBody>
          <a:bodyPr>
            <a:normAutofit fontScale="92500" lnSpcReduction="10000"/>
          </a:bodyPr>
          <a:lstStyle/>
          <a:p>
            <a:r>
              <a:rPr lang="en-US" dirty="0"/>
              <a:t>User interacts with chatbot through the React-based frontend interface. </a:t>
            </a:r>
          </a:p>
          <a:p>
            <a:r>
              <a:rPr lang="en-US" dirty="0"/>
              <a:t>Query is sent to </a:t>
            </a:r>
            <a:r>
              <a:rPr lang="en-US" dirty="0" err="1"/>
              <a:t>FastAPI</a:t>
            </a:r>
            <a:r>
              <a:rPr lang="en-US" dirty="0"/>
              <a:t> backend via REST API. </a:t>
            </a:r>
          </a:p>
          <a:p>
            <a:r>
              <a:rPr lang="en-US" dirty="0"/>
              <a:t>Backend processes the request and forwards it to the RAG pipeline. </a:t>
            </a:r>
          </a:p>
          <a:p>
            <a:r>
              <a:rPr lang="en-US" dirty="0"/>
              <a:t>Vector database retrieves relevant document chunks from company manuals. </a:t>
            </a:r>
          </a:p>
          <a:p>
            <a:r>
              <a:rPr lang="en-US" dirty="0"/>
              <a:t>Retrieved context is passed to Gemini API for accurate response generation. </a:t>
            </a:r>
          </a:p>
          <a:p>
            <a:r>
              <a:rPr lang="en-US" dirty="0"/>
              <a:t>Final response is sent back to frontend and displayed in real-time chat UI. </a:t>
            </a:r>
          </a:p>
          <a:p>
            <a:r>
              <a:rPr lang="en-US" dirty="0"/>
              <a:t>Ensures low latency, high accuracy, and contextual consistency in responses.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17</a:t>
            </a:fld>
            <a:endParaRPr lang="en-US" altLang="en-US"/>
          </a:p>
        </p:txBody>
      </p:sp>
    </p:spTree>
    <p:extLst>
      <p:ext uri="{BB962C8B-B14F-4D97-AF65-F5344CB8AC3E}">
        <p14:creationId xmlns:p14="http://schemas.microsoft.com/office/powerpoint/2010/main" val="1462243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Testing</a:t>
            </a:r>
          </a:p>
        </p:txBody>
      </p:sp>
      <p:sp>
        <p:nvSpPr>
          <p:cNvPr id="3" name="Content Placeholder 2"/>
          <p:cNvSpPr>
            <a:spLocks noGrp="1"/>
          </p:cNvSpPr>
          <p:nvPr>
            <p:ph idx="1"/>
          </p:nvPr>
        </p:nvSpPr>
        <p:spPr>
          <a:xfrm>
            <a:off x="838200" y="1184367"/>
            <a:ext cx="10515600" cy="4058194"/>
          </a:xfrm>
        </p:spPr>
        <p:txBody>
          <a:bodyPr>
            <a:normAutofit fontScale="92500"/>
          </a:bodyPr>
          <a:lstStyle/>
          <a:p>
            <a:r>
              <a:rPr lang="en-US" b="1" dirty="0"/>
              <a:t>Unit Testing:</a:t>
            </a:r>
            <a:r>
              <a:rPr lang="en-US" dirty="0"/>
              <a:t> Tested individual backend APIs and frontend components. </a:t>
            </a:r>
          </a:p>
          <a:p>
            <a:r>
              <a:rPr lang="en-US" b="1" dirty="0"/>
              <a:t>Integration Testing:</a:t>
            </a:r>
            <a:r>
              <a:rPr lang="en-US" dirty="0"/>
              <a:t> Verified communication between frontend, backend, and AI modules. </a:t>
            </a:r>
          </a:p>
          <a:p>
            <a:r>
              <a:rPr lang="en-US" b="1" dirty="0"/>
              <a:t>Performance Testing:</a:t>
            </a:r>
            <a:r>
              <a:rPr lang="en-US" dirty="0"/>
              <a:t> Evaluated response time of chatbot under multiple queries. </a:t>
            </a:r>
          </a:p>
          <a:p>
            <a:r>
              <a:rPr lang="en-US" b="1" dirty="0"/>
              <a:t>Accuracy Testing:</a:t>
            </a:r>
            <a:r>
              <a:rPr lang="en-US" dirty="0"/>
              <a:t> Checked AI responses against official company manuals. </a:t>
            </a:r>
          </a:p>
          <a:p>
            <a:r>
              <a:rPr lang="en-US" b="1" dirty="0"/>
              <a:t>User Testing:</a:t>
            </a:r>
            <a:r>
              <a:rPr lang="en-US" dirty="0"/>
              <a:t> Conducted basic usability testing for UI/UX improvements. </a:t>
            </a:r>
          </a:p>
          <a:p>
            <a:r>
              <a:rPr lang="en-US" dirty="0"/>
              <a:t>Ensured the chatbot doesn’t hallucinate like a sleep-deprived engineer. </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Tree>
    <p:extLst>
      <p:ext uri="{BB962C8B-B14F-4D97-AF65-F5344CB8AC3E}">
        <p14:creationId xmlns:p14="http://schemas.microsoft.com/office/powerpoint/2010/main" val="1906325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838200" y="1184367"/>
            <a:ext cx="10515600" cy="4058194"/>
          </a:xfrm>
        </p:spPr>
        <p:txBody>
          <a:bodyPr>
            <a:normAutofit fontScale="92500"/>
          </a:bodyPr>
          <a:lstStyle/>
          <a:p>
            <a:r>
              <a:rPr lang="en-US" dirty="0"/>
              <a:t>Successfully designed a scalable AI-driven chatbot system for technical consultation. </a:t>
            </a:r>
          </a:p>
          <a:p>
            <a:r>
              <a:rPr lang="en-US" dirty="0"/>
              <a:t>Implemented a modern web platform to improve customer interaction. </a:t>
            </a:r>
          </a:p>
          <a:p>
            <a:r>
              <a:rPr lang="en-US" dirty="0"/>
              <a:t>Leveraged RAG architecture to ensure accurate and reliable responses. </a:t>
            </a:r>
          </a:p>
          <a:p>
            <a:r>
              <a:rPr lang="en-US" dirty="0"/>
              <a:t>Gained hands-on experience in full-stack development and AI integration. </a:t>
            </a:r>
          </a:p>
          <a:p>
            <a:r>
              <a:rPr lang="en-US" dirty="0"/>
              <a:t>The solution significantly reduces manual workload and improves response efficiency. </a:t>
            </a:r>
          </a:p>
          <a:p>
            <a:r>
              <a:rPr lang="en-US" dirty="0"/>
              <a:t>This system lays the foundation for future AI-driven automation in the company.</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19</a:t>
            </a:fld>
            <a:endParaRPr lang="en-US" altLang="en-US"/>
          </a:p>
        </p:txBody>
      </p:sp>
    </p:spTree>
    <p:extLst>
      <p:ext uri="{BB962C8B-B14F-4D97-AF65-F5344CB8AC3E}">
        <p14:creationId xmlns:p14="http://schemas.microsoft.com/office/powerpoint/2010/main" val="690522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a:solidFill>
                  <a:schemeClr val="accent1">
                    <a:lumMod val="75000"/>
                  </a:schemeClr>
                </a:solidFill>
                <a:latin typeface="Times New Roman" panose="02020603050405020304" pitchFamily="18" charset="0"/>
                <a:cs typeface="Times New Roman" panose="02020603050405020304" pitchFamily="18" charset="0"/>
              </a:rPr>
              <a:t>References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r>
              <a:rPr lang="en-IN" dirty="0" err="1"/>
              <a:t>LangChain</a:t>
            </a:r>
            <a:r>
              <a:rPr lang="en-IN" dirty="0"/>
              <a:t> Documentation – </a:t>
            </a:r>
            <a:r>
              <a:rPr lang="en-IN" dirty="0">
                <a:hlinkClick r:id="rId2"/>
              </a:rPr>
              <a:t>https://docs.langchain.com</a:t>
            </a:r>
            <a:r>
              <a:rPr lang="en-IN" dirty="0"/>
              <a:t> </a:t>
            </a:r>
          </a:p>
          <a:p>
            <a:r>
              <a:rPr lang="en-IN" dirty="0"/>
              <a:t>Google Gemini API Documentation – </a:t>
            </a:r>
            <a:r>
              <a:rPr lang="en-IN" dirty="0">
                <a:hlinkClick r:id="rId3"/>
              </a:rPr>
              <a:t>https://ai.google.dev</a:t>
            </a:r>
            <a:r>
              <a:rPr lang="en-IN" dirty="0"/>
              <a:t> </a:t>
            </a:r>
          </a:p>
          <a:p>
            <a:r>
              <a:rPr lang="en-IN" dirty="0" err="1"/>
              <a:t>FastAPI</a:t>
            </a:r>
            <a:r>
              <a:rPr lang="en-IN" dirty="0"/>
              <a:t> Documentation – </a:t>
            </a:r>
            <a:r>
              <a:rPr lang="en-IN" dirty="0">
                <a:hlinkClick r:id="rId4"/>
              </a:rPr>
              <a:t>https://fastapi.tiangolo.com</a:t>
            </a:r>
            <a:r>
              <a:rPr lang="en-IN" dirty="0"/>
              <a:t> </a:t>
            </a:r>
          </a:p>
          <a:p>
            <a:r>
              <a:rPr lang="en-IN" dirty="0"/>
              <a:t>React.js Official Docs – </a:t>
            </a:r>
            <a:r>
              <a:rPr lang="en-IN" dirty="0">
                <a:hlinkClick r:id="rId5"/>
              </a:rPr>
              <a:t>https://react.dev</a:t>
            </a:r>
            <a:r>
              <a:rPr lang="en-IN" dirty="0"/>
              <a:t> </a:t>
            </a:r>
          </a:p>
          <a:p>
            <a:r>
              <a:rPr lang="en-IN" dirty="0"/>
              <a:t>Research papers on Retrieval-Augmented Generation (RAG) </a:t>
            </a:r>
          </a:p>
          <a:p>
            <a:r>
              <a:rPr lang="en-IN" dirty="0"/>
              <a:t>Company internal documents and product manuals </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20</a:t>
            </a:fld>
            <a:endParaRPr lang="en-US" altLang="en-US"/>
          </a:p>
        </p:txBody>
      </p:sp>
    </p:spTree>
    <p:extLst>
      <p:ext uri="{BB962C8B-B14F-4D97-AF65-F5344CB8AC3E}">
        <p14:creationId xmlns:p14="http://schemas.microsoft.com/office/powerpoint/2010/main" val="3221232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21</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158341265"/>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extLst>
      <p:ext uri="{BB962C8B-B14F-4D97-AF65-F5344CB8AC3E}">
        <p14:creationId xmlns:p14="http://schemas.microsoft.com/office/powerpoint/2010/main" val="3497100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22</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a:t>https://github.com/ratishgurav/CSE7302-INTERNSHIP</a:t>
            </a:r>
          </a:p>
        </p:txBody>
      </p:sp>
    </p:spTree>
    <p:extLst>
      <p:ext uri="{BB962C8B-B14F-4D97-AF65-F5344CB8AC3E}">
        <p14:creationId xmlns:p14="http://schemas.microsoft.com/office/powerpoint/2010/main" val="295621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23</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24</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7238</TotalTime>
  <Words>1657</Words>
  <Application>Microsoft Office PowerPoint</Application>
  <PresentationFormat>Widescreen</PresentationFormat>
  <Paragraphs>192</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System Implementation (At least 50%)</vt:lpstr>
      <vt:lpstr>System Implementation</vt:lpstr>
      <vt:lpstr>System Testing</vt:lpstr>
      <vt:lpstr>Conclusion</vt:lpstr>
      <vt:lpstr>References</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Ratish Gurav</cp:lastModifiedBy>
  <cp:revision>726</cp:revision>
  <dcterms:created xsi:type="dcterms:W3CDTF">2022-10-14T07:18:17Z</dcterms:created>
  <dcterms:modified xsi:type="dcterms:W3CDTF">2026-04-02T06:25:12Z</dcterms:modified>
</cp:coreProperties>
</file>